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hAMZiCTUlAglnkOEWnU4a4ptUj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D057A6-4835-4FE1-B430-0BC95098A7A6}">
  <a:tblStyle styleId="{CDD057A6-4835-4FE1-B430-0BC95098A7A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696"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1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5"/>
          <p:cNvSpPr>
            <a:spLocks noGrp="1"/>
          </p:cNvSpPr>
          <p:nvPr>
            <p:ph type="pic" idx="2"/>
          </p:nvPr>
        </p:nvSpPr>
        <p:spPr>
          <a:xfrm>
            <a:off x="5183188" y="987425"/>
            <a:ext cx="6172200" cy="4873625"/>
          </a:xfrm>
          <a:prstGeom prst="rect">
            <a:avLst/>
          </a:prstGeom>
          <a:noFill/>
          <a:ln>
            <a:noFill/>
          </a:ln>
        </p:spPr>
      </p:sp>
      <p:sp>
        <p:nvSpPr>
          <p:cNvPr id="64" name="Google Shape;64;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85" name="Google Shape;85;p1"/>
          <p:cNvSpPr txBox="1"/>
          <p:nvPr/>
        </p:nvSpPr>
        <p:spPr>
          <a:xfrm>
            <a:off x="1" y="2707792"/>
            <a:ext cx="12191999" cy="181588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4400" b="0" i="0" u="none" strike="noStrike" cap="none">
                <a:solidFill>
                  <a:schemeClr val="dk1"/>
                </a:solidFill>
                <a:latin typeface="Calibri"/>
                <a:ea typeface="Calibri"/>
                <a:cs typeface="Calibri"/>
                <a:sym typeface="Calibri"/>
              </a:rPr>
              <a:t>PROYECTO “Sistema Avatar para Traducción de Voz a Lengua de Señas Chilena (LSCh) CatchAI”</a:t>
            </a:r>
            <a:endParaRPr/>
          </a:p>
          <a:p>
            <a:pPr marL="0" marR="0" lvl="0" indent="0" algn="ctr" rtl="0">
              <a:spcBef>
                <a:spcPts val="0"/>
              </a:spcBef>
              <a:spcAft>
                <a:spcPts val="0"/>
              </a:spcAft>
              <a:buNone/>
            </a:pPr>
            <a:r>
              <a:rPr lang="es-ES" sz="2400" b="0" i="0" u="none" strike="noStrike" cap="none">
                <a:solidFill>
                  <a:schemeClr val="dk1"/>
                </a:solidFill>
                <a:latin typeface="Calibri"/>
                <a:ea typeface="Calibri"/>
                <a:cs typeface="Calibri"/>
                <a:sym typeface="Calibri"/>
              </a:rPr>
              <a:t>PRESENTACIÓN FINAL CAPSTONE</a:t>
            </a:r>
            <a:endParaRPr sz="2400" b="0" i="0" u="none" strike="noStrike" cap="none">
              <a:solidFill>
                <a:schemeClr val="dk1"/>
              </a:solidFill>
              <a:latin typeface="Calibri"/>
              <a:ea typeface="Calibri"/>
              <a:cs typeface="Calibri"/>
              <a:sym typeface="Calibri"/>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Google Shape;90;p2"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grpSp>
        <p:nvGrpSpPr>
          <p:cNvPr id="91" name="Google Shape;91;p2"/>
          <p:cNvGrpSpPr/>
          <p:nvPr/>
        </p:nvGrpSpPr>
        <p:grpSpPr>
          <a:xfrm>
            <a:off x="4121026" y="1710819"/>
            <a:ext cx="7633494" cy="4348003"/>
            <a:chOff x="0" y="0"/>
            <a:chExt cx="7633494" cy="4348003"/>
          </a:xfrm>
        </p:grpSpPr>
        <p:sp>
          <p:nvSpPr>
            <p:cNvPr id="92" name="Google Shape;92;p2"/>
            <p:cNvSpPr/>
            <p:nvPr/>
          </p:nvSpPr>
          <p:spPr>
            <a:xfrm>
              <a:off x="0" y="0"/>
              <a:ext cx="7633494" cy="1011163"/>
            </a:xfrm>
            <a:prstGeom prst="roundRect">
              <a:avLst>
                <a:gd name="adj" fmla="val 10000"/>
              </a:avLst>
            </a:prstGeom>
            <a:gradFill>
              <a:gsLst>
                <a:gs pos="0">
                  <a:srgbClr val="6EA5DA"/>
                </a:gs>
                <a:gs pos="50000">
                  <a:srgbClr val="529BDA"/>
                </a:gs>
                <a:gs pos="100000">
                  <a:srgbClr val="4188C8"/>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txBox="1"/>
            <p:nvPr/>
          </p:nvSpPr>
          <p:spPr>
            <a:xfrm>
              <a:off x="1627815" y="0"/>
              <a:ext cx="6005678" cy="1011163"/>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Calibri"/>
                <a:buNone/>
              </a:pPr>
              <a:r>
                <a:rPr lang="es-ES" sz="1600" b="0" i="0" u="none" strike="noStrike" cap="none">
                  <a:solidFill>
                    <a:schemeClr val="lt1"/>
                  </a:solidFill>
                  <a:latin typeface="Calibri"/>
                  <a:ea typeface="Calibri"/>
                  <a:cs typeface="Calibri"/>
                  <a:sym typeface="Calibri"/>
                </a:rPr>
                <a:t>Eyleen Collado</a:t>
              </a:r>
              <a:endParaRPr/>
            </a:p>
            <a:p>
              <a:pPr marL="114300" marR="0" lvl="1" indent="-114300" algn="l" rtl="0">
                <a:lnSpc>
                  <a:spcPct val="90000"/>
                </a:lnSpc>
                <a:spcBef>
                  <a:spcPts val="560"/>
                </a:spcBef>
                <a:spcAft>
                  <a:spcPts val="0"/>
                </a:spcAft>
                <a:buClr>
                  <a:schemeClr val="lt1"/>
                </a:buClr>
                <a:buSzPts val="1200"/>
                <a:buFont typeface="Calibri"/>
                <a:buChar char="•"/>
              </a:pPr>
              <a:r>
                <a:rPr lang="es-ES" sz="1200" b="0" i="0" u="none" strike="noStrike" cap="none">
                  <a:solidFill>
                    <a:schemeClr val="lt1"/>
                  </a:solidFill>
                  <a:latin typeface="Calibri"/>
                  <a:ea typeface="Calibri"/>
                  <a:cs typeface="Calibri"/>
                  <a:sym typeface="Calibri"/>
                </a:rPr>
                <a:t>Product Owner</a:t>
              </a:r>
              <a:endParaRPr sz="1200" b="0" i="0" u="none" strike="noStrike" cap="none">
                <a:solidFill>
                  <a:schemeClr val="lt1"/>
                </a:solidFill>
                <a:latin typeface="Calibri"/>
                <a:ea typeface="Calibri"/>
                <a:cs typeface="Calibri"/>
                <a:sym typeface="Calibri"/>
              </a:endParaRPr>
            </a:p>
            <a:p>
              <a:pPr marL="114300" marR="0" lvl="1" indent="-114300" algn="l" rtl="0">
                <a:lnSpc>
                  <a:spcPct val="90000"/>
                </a:lnSpc>
                <a:spcBef>
                  <a:spcPts val="180"/>
                </a:spcBef>
                <a:spcAft>
                  <a:spcPts val="0"/>
                </a:spcAft>
                <a:buClr>
                  <a:schemeClr val="lt1"/>
                </a:buClr>
                <a:buSzPts val="1200"/>
                <a:buFont typeface="Calibri"/>
                <a:buChar char="•"/>
              </a:pPr>
              <a:r>
                <a:rPr lang="es-ES" sz="1200" b="0" i="0" u="none" strike="noStrike" cap="none">
                  <a:solidFill>
                    <a:schemeClr val="lt1"/>
                  </a:solidFill>
                  <a:latin typeface="Calibri"/>
                  <a:ea typeface="Calibri"/>
                  <a:cs typeface="Calibri"/>
                  <a:sym typeface="Calibri"/>
                </a:rPr>
                <a:t>Coordinación general, priorización del MVP y creación de toda la documentación del proyecto.</a:t>
              </a:r>
              <a:endParaRPr sz="1200" b="0" i="0" u="none" strike="noStrike" cap="none">
                <a:solidFill>
                  <a:schemeClr val="lt1"/>
                </a:solidFill>
                <a:latin typeface="Calibri"/>
                <a:ea typeface="Calibri"/>
                <a:cs typeface="Calibri"/>
                <a:sym typeface="Calibri"/>
              </a:endParaRPr>
            </a:p>
          </p:txBody>
        </p:sp>
        <p:sp>
          <p:nvSpPr>
            <p:cNvPr id="94" name="Google Shape;94;p2"/>
            <p:cNvSpPr/>
            <p:nvPr/>
          </p:nvSpPr>
          <p:spPr>
            <a:xfrm>
              <a:off x="101116" y="101116"/>
              <a:ext cx="1526698" cy="808931"/>
            </a:xfrm>
            <a:prstGeom prst="roundRect">
              <a:avLst>
                <a:gd name="adj" fmla="val 10000"/>
              </a:avLst>
            </a:prstGeom>
            <a:blipFill rotWithShape="1">
              <a:blip r:embed="rId4">
                <a:alphaModFix/>
              </a:blip>
              <a:stretch>
                <a:fillRect l="8073" t="-34777" r="8072" b="-34777"/>
              </a:stretch>
            </a:blipFill>
            <a:ln>
              <a:noFill/>
            </a:ln>
            <a:effectLst>
              <a:outerShdw blurRad="57150" dist="19050" dir="6000000" sx="120000" sy="120000" algn="ctr" rotWithShape="0">
                <a:srgbClr val="1F3864">
                  <a:alpha val="8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0" y="1103543"/>
              <a:ext cx="7633494" cy="1011163"/>
            </a:xfrm>
            <a:prstGeom prst="roundRect">
              <a:avLst>
                <a:gd name="adj" fmla="val 10000"/>
              </a:avLst>
            </a:prstGeom>
            <a:gradFill>
              <a:gsLst>
                <a:gs pos="0">
                  <a:srgbClr val="6EA5DA"/>
                </a:gs>
                <a:gs pos="50000">
                  <a:srgbClr val="529BDA"/>
                </a:gs>
                <a:gs pos="100000">
                  <a:srgbClr val="4188C8"/>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txBox="1"/>
            <p:nvPr/>
          </p:nvSpPr>
          <p:spPr>
            <a:xfrm>
              <a:off x="1627815" y="1103543"/>
              <a:ext cx="6005678" cy="1011163"/>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Calibri"/>
                <a:buNone/>
              </a:pPr>
              <a:r>
                <a:rPr lang="es-ES" sz="1600" b="0" i="0" u="none" strike="noStrike" cap="none">
                  <a:solidFill>
                    <a:schemeClr val="lt1"/>
                  </a:solidFill>
                  <a:latin typeface="Calibri"/>
                  <a:ea typeface="Calibri"/>
                  <a:cs typeface="Calibri"/>
                  <a:sym typeface="Calibri"/>
                </a:rPr>
                <a:t>Marcos Bombalas</a:t>
              </a:r>
              <a:endParaRPr sz="1600" b="0" i="0" u="none" strike="noStrike" cap="none">
                <a:solidFill>
                  <a:schemeClr val="lt1"/>
                </a:solidFill>
                <a:latin typeface="Calibri"/>
                <a:ea typeface="Calibri"/>
                <a:cs typeface="Calibri"/>
                <a:sym typeface="Calibri"/>
              </a:endParaRPr>
            </a:p>
            <a:p>
              <a:pPr marL="114300" marR="0" lvl="1" indent="-114300" algn="l" rtl="0">
                <a:lnSpc>
                  <a:spcPct val="90000"/>
                </a:lnSpc>
                <a:spcBef>
                  <a:spcPts val="560"/>
                </a:spcBef>
                <a:spcAft>
                  <a:spcPts val="0"/>
                </a:spcAft>
                <a:buClr>
                  <a:schemeClr val="lt1"/>
                </a:buClr>
                <a:buSzPts val="1200"/>
                <a:buFont typeface="Calibri"/>
                <a:buChar char="•"/>
              </a:pPr>
              <a:r>
                <a:rPr lang="es-ES" sz="1200" b="0" i="0" u="none" strike="noStrike" cap="none">
                  <a:solidFill>
                    <a:schemeClr val="lt1"/>
                  </a:solidFill>
                  <a:latin typeface="Calibri"/>
                  <a:ea typeface="Calibri"/>
                  <a:cs typeface="Calibri"/>
                  <a:sym typeface="Calibri"/>
                </a:rPr>
                <a:t>Scrum Master</a:t>
              </a:r>
              <a:endParaRPr sz="1200" b="0" i="0" u="none" strike="noStrike" cap="none">
                <a:solidFill>
                  <a:schemeClr val="lt1"/>
                </a:solidFill>
                <a:latin typeface="Calibri"/>
                <a:ea typeface="Calibri"/>
                <a:cs typeface="Calibri"/>
                <a:sym typeface="Calibri"/>
              </a:endParaRPr>
            </a:p>
            <a:p>
              <a:pPr marL="114300" marR="0" lvl="1" indent="-114300" algn="l" rtl="0">
                <a:lnSpc>
                  <a:spcPct val="90000"/>
                </a:lnSpc>
                <a:spcBef>
                  <a:spcPts val="180"/>
                </a:spcBef>
                <a:spcAft>
                  <a:spcPts val="0"/>
                </a:spcAft>
                <a:buClr>
                  <a:schemeClr val="lt1"/>
                </a:buClr>
                <a:buSzPts val="1200"/>
                <a:buFont typeface="Calibri"/>
                <a:buChar char="•"/>
              </a:pPr>
              <a:r>
                <a:rPr lang="es-ES" sz="1200" b="0" i="0" u="none" strike="noStrike" cap="none">
                  <a:solidFill>
                    <a:schemeClr val="lt1"/>
                  </a:solidFill>
                  <a:latin typeface="Calibri"/>
                  <a:ea typeface="Calibri"/>
                  <a:cs typeface="Calibri"/>
                  <a:sym typeface="Calibri"/>
                </a:rPr>
                <a:t>Integración del pipeline voz→texto→avatar y modularización del cliente en Godot.</a:t>
              </a:r>
              <a:endParaRPr sz="1200" b="0" i="0" u="none" strike="noStrike" cap="none">
                <a:solidFill>
                  <a:schemeClr val="lt1"/>
                </a:solidFill>
                <a:latin typeface="Calibri"/>
                <a:ea typeface="Calibri"/>
                <a:cs typeface="Calibri"/>
                <a:sym typeface="Calibri"/>
              </a:endParaRPr>
            </a:p>
          </p:txBody>
        </p:sp>
        <p:sp>
          <p:nvSpPr>
            <p:cNvPr id="97" name="Google Shape;97;p2"/>
            <p:cNvSpPr/>
            <p:nvPr/>
          </p:nvSpPr>
          <p:spPr>
            <a:xfrm>
              <a:off x="121284" y="1213396"/>
              <a:ext cx="1526698" cy="808931"/>
            </a:xfrm>
            <a:prstGeom prst="roundRect">
              <a:avLst>
                <a:gd name="adj" fmla="val 10000"/>
              </a:avLst>
            </a:prstGeom>
            <a:blipFill rotWithShape="1">
              <a:blip r:embed="rId5">
                <a:alphaModFix/>
              </a:blip>
              <a:stretch>
                <a:fillRect l="8073" t="-17822" r="8072" b="-17820"/>
              </a:stretch>
            </a:blipFill>
            <a:ln>
              <a:noFill/>
            </a:ln>
            <a:effectLst>
              <a:outerShdw blurRad="57150" dist="19050" dir="6000000" sx="116000" sy="116000" algn="ctr" rotWithShape="0">
                <a:srgbClr val="1F3864">
                  <a:alpha val="8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0" y="2224560"/>
              <a:ext cx="7633494" cy="1011163"/>
            </a:xfrm>
            <a:prstGeom prst="roundRect">
              <a:avLst>
                <a:gd name="adj" fmla="val 10000"/>
              </a:avLst>
            </a:prstGeom>
            <a:gradFill>
              <a:gsLst>
                <a:gs pos="0">
                  <a:srgbClr val="6EA5DA"/>
                </a:gs>
                <a:gs pos="50000">
                  <a:srgbClr val="529BDA"/>
                </a:gs>
                <a:gs pos="100000">
                  <a:srgbClr val="4188C8"/>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txBox="1"/>
            <p:nvPr/>
          </p:nvSpPr>
          <p:spPr>
            <a:xfrm>
              <a:off x="1627815" y="2224560"/>
              <a:ext cx="6005678" cy="1011163"/>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Calibri"/>
                <a:buNone/>
              </a:pPr>
              <a:r>
                <a:rPr lang="es-ES" sz="1600" b="0" i="0" u="none" strike="noStrike" cap="none">
                  <a:solidFill>
                    <a:schemeClr val="lt1"/>
                  </a:solidFill>
                  <a:latin typeface="Calibri"/>
                  <a:ea typeface="Calibri"/>
                  <a:cs typeface="Calibri"/>
                  <a:sym typeface="Calibri"/>
                </a:rPr>
                <a:t>Luis Gómez</a:t>
              </a:r>
              <a:endParaRPr sz="1600" b="0" i="0" u="none" strike="noStrike" cap="none">
                <a:solidFill>
                  <a:schemeClr val="lt1"/>
                </a:solidFill>
                <a:latin typeface="Calibri"/>
                <a:ea typeface="Calibri"/>
                <a:cs typeface="Calibri"/>
                <a:sym typeface="Calibri"/>
              </a:endParaRPr>
            </a:p>
            <a:p>
              <a:pPr marL="114300" marR="0" lvl="1" indent="-114300" algn="l" rtl="0">
                <a:lnSpc>
                  <a:spcPct val="90000"/>
                </a:lnSpc>
                <a:spcBef>
                  <a:spcPts val="560"/>
                </a:spcBef>
                <a:spcAft>
                  <a:spcPts val="0"/>
                </a:spcAft>
                <a:buClr>
                  <a:schemeClr val="lt1"/>
                </a:buClr>
                <a:buSzPts val="1200"/>
                <a:buFont typeface="Calibri"/>
                <a:buChar char="•"/>
              </a:pPr>
              <a:r>
                <a:rPr lang="es-ES" sz="1200" b="0" i="0" u="none" strike="noStrike" cap="none">
                  <a:solidFill>
                    <a:schemeClr val="lt1"/>
                  </a:solidFill>
                  <a:latin typeface="Calibri"/>
                  <a:ea typeface="Calibri"/>
                  <a:cs typeface="Calibri"/>
                  <a:sym typeface="Calibri"/>
                </a:rPr>
                <a:t>Desarrollador</a:t>
              </a:r>
              <a:endParaRPr sz="1200" b="0" i="0" u="none" strike="noStrike" cap="none">
                <a:solidFill>
                  <a:schemeClr val="lt1"/>
                </a:solidFill>
                <a:latin typeface="Calibri"/>
                <a:ea typeface="Calibri"/>
                <a:cs typeface="Calibri"/>
                <a:sym typeface="Calibri"/>
              </a:endParaRPr>
            </a:p>
            <a:p>
              <a:pPr marL="114300" marR="0" lvl="1" indent="-114300" algn="l" rtl="0">
                <a:lnSpc>
                  <a:spcPct val="90000"/>
                </a:lnSpc>
                <a:spcBef>
                  <a:spcPts val="180"/>
                </a:spcBef>
                <a:spcAft>
                  <a:spcPts val="0"/>
                </a:spcAft>
                <a:buClr>
                  <a:schemeClr val="lt1"/>
                </a:buClr>
                <a:buSzPts val="1200"/>
                <a:buFont typeface="Calibri"/>
                <a:buChar char="•"/>
              </a:pPr>
              <a:r>
                <a:rPr lang="es-ES" sz="1200" b="0" i="0" u="none" strike="noStrike" cap="none">
                  <a:solidFill>
                    <a:schemeClr val="lt1"/>
                  </a:solidFill>
                  <a:latin typeface="Calibri"/>
                  <a:ea typeface="Calibri"/>
                  <a:cs typeface="Calibri"/>
                  <a:sym typeface="Calibri"/>
                </a:rPr>
                <a:t>Implementación de Whisper/FastAPI y normalización semántica.</a:t>
              </a:r>
              <a:endParaRPr sz="1200" b="0" i="0" u="none" strike="noStrike" cap="none">
                <a:solidFill>
                  <a:schemeClr val="lt1"/>
                </a:solidFill>
                <a:latin typeface="Calibri"/>
                <a:ea typeface="Calibri"/>
                <a:cs typeface="Calibri"/>
                <a:sym typeface="Calibri"/>
              </a:endParaRPr>
            </a:p>
          </p:txBody>
        </p:sp>
        <p:sp>
          <p:nvSpPr>
            <p:cNvPr id="100" name="Google Shape;100;p2"/>
            <p:cNvSpPr/>
            <p:nvPr/>
          </p:nvSpPr>
          <p:spPr>
            <a:xfrm>
              <a:off x="91437" y="2325677"/>
              <a:ext cx="1526698" cy="808931"/>
            </a:xfrm>
            <a:prstGeom prst="roundRect">
              <a:avLst>
                <a:gd name="adj" fmla="val 10000"/>
              </a:avLst>
            </a:prstGeom>
            <a:blipFill rotWithShape="1">
              <a:blip r:embed="rId6">
                <a:alphaModFix/>
              </a:blip>
              <a:stretch>
                <a:fillRect l="8073" t="-17822" r="8072" b="-17820"/>
              </a:stretch>
            </a:blipFill>
            <a:ln>
              <a:noFill/>
            </a:ln>
            <a:effectLst>
              <a:outerShdw blurRad="57150" sx="115000" sy="115000" algn="ctr" rotWithShape="0">
                <a:srgbClr val="1F3864">
                  <a:alpha val="8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0" y="3336840"/>
              <a:ext cx="7633494" cy="1011163"/>
            </a:xfrm>
            <a:prstGeom prst="roundRect">
              <a:avLst>
                <a:gd name="adj" fmla="val 10000"/>
              </a:avLst>
            </a:prstGeom>
            <a:gradFill>
              <a:gsLst>
                <a:gs pos="0">
                  <a:srgbClr val="6EA5DA"/>
                </a:gs>
                <a:gs pos="50000">
                  <a:srgbClr val="529BDA"/>
                </a:gs>
                <a:gs pos="100000">
                  <a:srgbClr val="4188C8"/>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txBox="1"/>
            <p:nvPr/>
          </p:nvSpPr>
          <p:spPr>
            <a:xfrm>
              <a:off x="1627815" y="3336840"/>
              <a:ext cx="6005678" cy="1011163"/>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Calibri"/>
                <a:buNone/>
              </a:pPr>
              <a:r>
                <a:rPr lang="es-ES" sz="1600" b="0" i="0" u="none" strike="noStrike" cap="none">
                  <a:solidFill>
                    <a:schemeClr val="lt1"/>
                  </a:solidFill>
                  <a:latin typeface="Calibri"/>
                  <a:ea typeface="Calibri"/>
                  <a:cs typeface="Calibri"/>
                  <a:sym typeface="Calibri"/>
                </a:rPr>
                <a:t>Marcos Hernández</a:t>
              </a:r>
              <a:endParaRPr/>
            </a:p>
            <a:p>
              <a:pPr marL="114300" marR="0" lvl="1" indent="-114300" algn="l" rtl="0">
                <a:lnSpc>
                  <a:spcPct val="90000"/>
                </a:lnSpc>
                <a:spcBef>
                  <a:spcPts val="560"/>
                </a:spcBef>
                <a:spcAft>
                  <a:spcPts val="0"/>
                </a:spcAft>
                <a:buClr>
                  <a:schemeClr val="lt1"/>
                </a:buClr>
                <a:buSzPts val="1200"/>
                <a:buFont typeface="Calibri"/>
                <a:buChar char="•"/>
              </a:pPr>
              <a:r>
                <a:rPr lang="es-ES" sz="1200" b="0" i="0" u="none" strike="noStrike" cap="none">
                  <a:solidFill>
                    <a:schemeClr val="lt1"/>
                  </a:solidFill>
                  <a:latin typeface="Calibri"/>
                  <a:ea typeface="Calibri"/>
                  <a:cs typeface="Calibri"/>
                  <a:sym typeface="Calibri"/>
                </a:rPr>
                <a:t>Desarrollador</a:t>
              </a:r>
              <a:endParaRPr sz="1200" b="0" i="0" u="none" strike="noStrike" cap="none">
                <a:solidFill>
                  <a:schemeClr val="lt1"/>
                </a:solidFill>
                <a:latin typeface="Calibri"/>
                <a:ea typeface="Calibri"/>
                <a:cs typeface="Calibri"/>
                <a:sym typeface="Calibri"/>
              </a:endParaRPr>
            </a:p>
            <a:p>
              <a:pPr marL="114300" marR="0" lvl="1" indent="-114300" algn="l" rtl="0">
                <a:lnSpc>
                  <a:spcPct val="90000"/>
                </a:lnSpc>
                <a:spcBef>
                  <a:spcPts val="180"/>
                </a:spcBef>
                <a:spcAft>
                  <a:spcPts val="0"/>
                </a:spcAft>
                <a:buClr>
                  <a:schemeClr val="lt1"/>
                </a:buClr>
                <a:buSzPts val="1200"/>
                <a:buFont typeface="Calibri"/>
                <a:buChar char="•"/>
              </a:pPr>
              <a:r>
                <a:rPr lang="es-ES" sz="1200" b="0" i="0" u="none" strike="noStrike" cap="none">
                  <a:solidFill>
                    <a:schemeClr val="lt1"/>
                  </a:solidFill>
                  <a:latin typeface="Calibri"/>
                  <a:ea typeface="Calibri"/>
                  <a:cs typeface="Calibri"/>
                  <a:sym typeface="Calibri"/>
                </a:rPr>
                <a:t>Modelado 3D, rigging y validación del avatar compatible con Blender/Godot, intérprete en la captura de señas.</a:t>
              </a:r>
              <a:endParaRPr sz="1200" b="0" i="0" u="none" strike="noStrike" cap="none">
                <a:solidFill>
                  <a:schemeClr val="lt1"/>
                </a:solidFill>
                <a:latin typeface="Calibri"/>
                <a:ea typeface="Calibri"/>
                <a:cs typeface="Calibri"/>
                <a:sym typeface="Calibri"/>
              </a:endParaRPr>
            </a:p>
          </p:txBody>
        </p:sp>
        <p:sp>
          <p:nvSpPr>
            <p:cNvPr id="103" name="Google Shape;103;p2"/>
            <p:cNvSpPr/>
            <p:nvPr/>
          </p:nvSpPr>
          <p:spPr>
            <a:xfrm>
              <a:off x="101116" y="3437957"/>
              <a:ext cx="1526698" cy="808931"/>
            </a:xfrm>
            <a:prstGeom prst="roundRect">
              <a:avLst>
                <a:gd name="adj" fmla="val 10000"/>
              </a:avLst>
            </a:prstGeom>
            <a:blipFill rotWithShape="1">
              <a:blip r:embed="rId7">
                <a:alphaModFix/>
              </a:blip>
              <a:stretch>
                <a:fillRect l="8073" t="-17822" r="8072" b="-17820"/>
              </a:stretch>
            </a:blipFill>
            <a:ln>
              <a:noFill/>
            </a:ln>
            <a:effectLst>
              <a:outerShdw blurRad="57150" dist="19050" dir="6000000" sx="115000" sy="115000" algn="ctr" rotWithShape="0">
                <a:srgbClr val="1F3864">
                  <a:alpha val="8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 name="Google Shape;104;p2"/>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u="none" strike="noStrike" cap="none">
                <a:solidFill>
                  <a:srgbClr val="757070"/>
                </a:solidFill>
                <a:latin typeface="Calibri"/>
                <a:ea typeface="Calibri"/>
                <a:cs typeface="Calibri"/>
                <a:sym typeface="Calibri"/>
              </a:rPr>
              <a:t>PROYECTO “CatchAI”</a:t>
            </a:r>
            <a:endParaRPr/>
          </a:p>
        </p:txBody>
      </p:sp>
      <p:sp>
        <p:nvSpPr>
          <p:cNvPr id="105" name="Google Shape;105;p2"/>
          <p:cNvSpPr txBox="1"/>
          <p:nvPr/>
        </p:nvSpPr>
        <p:spPr>
          <a:xfrm>
            <a:off x="238327" y="3058616"/>
            <a:ext cx="3608961"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3600">
                <a:solidFill>
                  <a:schemeClr val="dk1"/>
                </a:solidFill>
                <a:latin typeface="Calibri"/>
                <a:ea typeface="Calibri"/>
                <a:cs typeface="Calibri"/>
                <a:sym typeface="Calibri"/>
              </a:rPr>
              <a:t>INTEGRANTES DEL PROYECTO</a:t>
            </a:r>
            <a:endParaRPr sz="1800">
              <a:solidFill>
                <a:schemeClr val="dk1"/>
              </a:solidFill>
              <a:latin typeface="Calibri"/>
              <a:ea typeface="Calibri"/>
              <a:cs typeface="Calibri"/>
              <a:sym typeface="Calibri"/>
            </a:endParaRPr>
          </a:p>
        </p:txBody>
      </p:sp>
      <p:cxnSp>
        <p:nvCxnSpPr>
          <p:cNvPr id="106" name="Google Shape;106;p2"/>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3"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12" name="Google Shape;112;p3"/>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757070"/>
                </a:solidFill>
                <a:latin typeface="Calibri"/>
                <a:ea typeface="Calibri"/>
                <a:cs typeface="Calibri"/>
                <a:sym typeface="Calibri"/>
              </a:rPr>
              <a:t>PROYECTO “CatchAI”</a:t>
            </a:r>
            <a:endParaRPr/>
          </a:p>
        </p:txBody>
      </p:sp>
      <p:sp>
        <p:nvSpPr>
          <p:cNvPr id="113" name="Google Shape;113;p3"/>
          <p:cNvSpPr txBox="1"/>
          <p:nvPr/>
        </p:nvSpPr>
        <p:spPr>
          <a:xfrm>
            <a:off x="0" y="1130849"/>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3600">
                <a:solidFill>
                  <a:schemeClr val="dk1"/>
                </a:solidFill>
                <a:latin typeface="Calibri"/>
                <a:ea typeface="Calibri"/>
                <a:cs typeface="Calibri"/>
                <a:sym typeface="Calibri"/>
              </a:rPr>
              <a:t>DESCRIPCIÓN DEL PROYECTO</a:t>
            </a:r>
            <a:endParaRPr sz="1800">
              <a:solidFill>
                <a:schemeClr val="dk1"/>
              </a:solidFill>
              <a:latin typeface="Calibri"/>
              <a:ea typeface="Calibri"/>
              <a:cs typeface="Calibri"/>
              <a:sym typeface="Calibri"/>
            </a:endParaRPr>
          </a:p>
        </p:txBody>
      </p:sp>
      <p:cxnSp>
        <p:nvCxnSpPr>
          <p:cNvPr id="114" name="Google Shape;114;p3"/>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115" name="Google Shape;115;p3"/>
          <p:cNvSpPr/>
          <p:nvPr/>
        </p:nvSpPr>
        <p:spPr>
          <a:xfrm>
            <a:off x="714909" y="2169769"/>
            <a:ext cx="4348705" cy="4092601"/>
          </a:xfrm>
          <a:prstGeom prst="roundRect">
            <a:avLst>
              <a:gd name="adj" fmla="val 10901"/>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ES" sz="2800" u="sng">
                <a:solidFill>
                  <a:schemeClr val="dk1"/>
                </a:solidFill>
                <a:latin typeface="Calibri"/>
                <a:ea typeface="Calibri"/>
                <a:cs typeface="Calibri"/>
                <a:sym typeface="Calibri"/>
              </a:rPr>
              <a:t>Problema o dolor</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ctr" rtl="0">
              <a:spcBef>
                <a:spcPts val="0"/>
              </a:spcBef>
              <a:spcAft>
                <a:spcPts val="0"/>
              </a:spcAft>
              <a:buNone/>
            </a:pPr>
            <a:r>
              <a:rPr lang="es-ES" sz="1800">
                <a:solidFill>
                  <a:schemeClr val="dk1"/>
                </a:solidFill>
                <a:latin typeface="Calibri"/>
                <a:ea typeface="Calibri"/>
                <a:cs typeface="Calibri"/>
                <a:sym typeface="Calibri"/>
              </a:rPr>
              <a:t>La comunidad sorda en Chile enfrenta barreras constantes para acceder a información hablada en clases, transmisiones y espacios públicos. La disponibilidad de intérpretes certificados es limitada, costosa y difícil de asegurar en todo momento, lo que genera exclusión comunicacional y dificulta la participación plena de las personas sordas.</a:t>
            </a:r>
            <a:endParaRPr sz="1800">
              <a:solidFill>
                <a:schemeClr val="dk1"/>
              </a:solidFill>
              <a:latin typeface="Calibri"/>
              <a:ea typeface="Calibri"/>
              <a:cs typeface="Calibri"/>
              <a:sym typeface="Calibri"/>
            </a:endParaRPr>
          </a:p>
        </p:txBody>
      </p:sp>
      <p:sp>
        <p:nvSpPr>
          <p:cNvPr id="116" name="Google Shape;116;p3"/>
          <p:cNvSpPr/>
          <p:nvPr/>
        </p:nvSpPr>
        <p:spPr>
          <a:xfrm>
            <a:off x="6883203" y="2169769"/>
            <a:ext cx="4348705" cy="4092601"/>
          </a:xfrm>
          <a:prstGeom prst="roundRect">
            <a:avLst>
              <a:gd name="adj" fmla="val 10901"/>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ES" sz="2800" u="sng">
                <a:solidFill>
                  <a:schemeClr val="dk1"/>
                </a:solidFill>
                <a:latin typeface="Calibri"/>
                <a:ea typeface="Calibri"/>
                <a:cs typeface="Calibri"/>
                <a:sym typeface="Calibri"/>
              </a:rPr>
              <a:t>Propuesta de solución</a:t>
            </a:r>
            <a:endParaRPr/>
          </a:p>
          <a:p>
            <a:pPr marL="0" marR="0" lvl="0" indent="0" algn="ctr" rtl="0">
              <a:spcBef>
                <a:spcPts val="0"/>
              </a:spcBef>
              <a:spcAft>
                <a:spcPts val="0"/>
              </a:spcAft>
              <a:buNone/>
            </a:pPr>
            <a:endParaRPr sz="1800" u="sng">
              <a:solidFill>
                <a:schemeClr val="dk1"/>
              </a:solidFill>
              <a:latin typeface="Calibri"/>
              <a:ea typeface="Calibri"/>
              <a:cs typeface="Calibri"/>
              <a:sym typeface="Calibri"/>
            </a:endParaRPr>
          </a:p>
          <a:p>
            <a:pPr marL="0" marR="0" lvl="0" indent="0" algn="just" rtl="0">
              <a:spcBef>
                <a:spcPts val="0"/>
              </a:spcBef>
              <a:spcAft>
                <a:spcPts val="0"/>
              </a:spcAft>
              <a:buNone/>
            </a:pPr>
            <a:r>
              <a:rPr lang="es-ES" sz="1800">
                <a:solidFill>
                  <a:schemeClr val="dk1"/>
                </a:solidFill>
                <a:latin typeface="Calibri"/>
                <a:ea typeface="Calibri"/>
                <a:cs typeface="Calibri"/>
                <a:sym typeface="Calibri"/>
              </a:rPr>
              <a:t>Crear un sistema capaz de transformar la voz en una representación visual comprensible mediante un avatar 3D que ejecuta gestos en Español Signado. Este MVP integra reconocimiento de voz, procesamiento semántico y animación, ofreciendo una herramienta accesible que sirve como paso inicial hacia una futura traducción completa a Lengua de Señas Chilena (LSCh).</a:t>
            </a:r>
            <a:endParaRPr sz="1800">
              <a:solidFill>
                <a:schemeClr val="dk1"/>
              </a:solidFill>
              <a:latin typeface="Calibri"/>
              <a:ea typeface="Calibri"/>
              <a:cs typeface="Calibri"/>
              <a:sym typeface="Calibri"/>
            </a:endParaRPr>
          </a:p>
        </p:txBody>
      </p:sp>
      <p:sp>
        <p:nvSpPr>
          <p:cNvPr id="117" name="Google Shape;117;p3"/>
          <p:cNvSpPr/>
          <p:nvPr/>
        </p:nvSpPr>
        <p:spPr>
          <a:xfrm>
            <a:off x="5456903" y="3736258"/>
            <a:ext cx="1140542" cy="757084"/>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500"/>
                                        <p:tgtEl>
                                          <p:spTgt spid="1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7"/>
                                        </p:tgtEl>
                                        <p:attrNameLst>
                                          <p:attrName>style.visibility</p:attrName>
                                        </p:attrNameLst>
                                      </p:cBhvr>
                                      <p:to>
                                        <p:strVal val="visible"/>
                                      </p:to>
                                    </p:set>
                                    <p:animEffect transition="in" filter="fade">
                                      <p:cBhvr>
                                        <p:cTn id="12" dur="500"/>
                                        <p:tgtEl>
                                          <p:spTgt spid="117"/>
                                        </p:tgtEl>
                                      </p:cBhvr>
                                    </p:animEffect>
                                  </p:childTnLst>
                                </p:cTn>
                              </p:par>
                              <p:par>
                                <p:cTn id="13" presetID="10" presetClass="entr" presetSubtype="0" fill="hold" nodeType="withEffect">
                                  <p:stCondLst>
                                    <p:cond delay="0"/>
                                  </p:stCondLst>
                                  <p:childTnLst>
                                    <p:set>
                                      <p:cBhvr>
                                        <p:cTn id="14" dur="1" fill="hold">
                                          <p:stCondLst>
                                            <p:cond delay="0"/>
                                          </p:stCondLst>
                                        </p:cTn>
                                        <p:tgtEl>
                                          <p:spTgt spid="116"/>
                                        </p:tgtEl>
                                        <p:attrNameLst>
                                          <p:attrName>style.visibility</p:attrName>
                                        </p:attrNameLst>
                                      </p:cBhvr>
                                      <p:to>
                                        <p:strVal val="visible"/>
                                      </p:to>
                                    </p:set>
                                    <p:animEffect transition="in" filter="fade">
                                      <p:cBhvr>
                                        <p:cTn id="15"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p4"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23" name="Google Shape;123;p4"/>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757070"/>
                </a:solidFill>
                <a:latin typeface="Calibri"/>
                <a:ea typeface="Calibri"/>
                <a:cs typeface="Calibri"/>
                <a:sym typeface="Calibri"/>
              </a:rPr>
              <a:t>PROYECTO “CatchAI”</a:t>
            </a:r>
            <a:endParaRPr/>
          </a:p>
        </p:txBody>
      </p:sp>
      <p:sp>
        <p:nvSpPr>
          <p:cNvPr id="124" name="Google Shape;124;p4"/>
          <p:cNvSpPr txBox="1"/>
          <p:nvPr/>
        </p:nvSpPr>
        <p:spPr>
          <a:xfrm>
            <a:off x="0" y="1078727"/>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3600">
                <a:solidFill>
                  <a:schemeClr val="dk1"/>
                </a:solidFill>
                <a:latin typeface="Calibri"/>
                <a:ea typeface="Calibri"/>
                <a:cs typeface="Calibri"/>
                <a:sym typeface="Calibri"/>
              </a:rPr>
              <a:t>Objetivo General</a:t>
            </a:r>
            <a:endParaRPr sz="1800">
              <a:solidFill>
                <a:schemeClr val="dk1"/>
              </a:solidFill>
              <a:latin typeface="Calibri"/>
              <a:ea typeface="Calibri"/>
              <a:cs typeface="Calibri"/>
              <a:sym typeface="Calibri"/>
            </a:endParaRPr>
          </a:p>
        </p:txBody>
      </p:sp>
      <p:cxnSp>
        <p:nvCxnSpPr>
          <p:cNvPr id="125" name="Google Shape;125;p4"/>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126" name="Google Shape;126;p4"/>
          <p:cNvSpPr txBox="1"/>
          <p:nvPr/>
        </p:nvSpPr>
        <p:spPr>
          <a:xfrm>
            <a:off x="1" y="3588554"/>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3600">
                <a:solidFill>
                  <a:schemeClr val="dk1"/>
                </a:solidFill>
                <a:latin typeface="Calibri"/>
                <a:ea typeface="Calibri"/>
                <a:cs typeface="Calibri"/>
                <a:sym typeface="Calibri"/>
              </a:rPr>
              <a:t>Objetivos Específicos</a:t>
            </a:r>
            <a:endParaRPr sz="1800">
              <a:solidFill>
                <a:schemeClr val="dk1"/>
              </a:solidFill>
              <a:latin typeface="Calibri"/>
              <a:ea typeface="Calibri"/>
              <a:cs typeface="Calibri"/>
              <a:sym typeface="Calibri"/>
            </a:endParaRPr>
          </a:p>
        </p:txBody>
      </p:sp>
      <p:sp>
        <p:nvSpPr>
          <p:cNvPr id="127" name="Google Shape;127;p4"/>
          <p:cNvSpPr/>
          <p:nvPr/>
        </p:nvSpPr>
        <p:spPr>
          <a:xfrm>
            <a:off x="614515" y="1725058"/>
            <a:ext cx="10962967" cy="1575221"/>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dk1"/>
                </a:solidFill>
                <a:latin typeface="Calibri"/>
                <a:ea typeface="Calibri"/>
                <a:cs typeface="Calibri"/>
                <a:sym typeface="Calibri"/>
              </a:rPr>
              <a:t>Desarrollar un MVP capaz de transformar una palabra hablada en español en una representación visual en español signado mediante un avatar 3D, integrando un módulo de reconocimiento de voz, un diccionario signado básico y un sistema de animación construido con herramientas de software libre.</a:t>
            </a:r>
            <a:endParaRPr sz="1800">
              <a:solidFill>
                <a:schemeClr val="dk1"/>
              </a:solidFill>
              <a:latin typeface="Calibri"/>
              <a:ea typeface="Calibri"/>
              <a:cs typeface="Calibri"/>
              <a:sym typeface="Calibri"/>
            </a:endParaRPr>
          </a:p>
        </p:txBody>
      </p:sp>
      <p:sp>
        <p:nvSpPr>
          <p:cNvPr id="128" name="Google Shape;128;p4"/>
          <p:cNvSpPr/>
          <p:nvPr/>
        </p:nvSpPr>
        <p:spPr>
          <a:xfrm>
            <a:off x="614514" y="4234886"/>
            <a:ext cx="11051305" cy="2278226"/>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285750" marR="0" lvl="0" indent="-285750" algn="l" rtl="0">
              <a:spcBef>
                <a:spcPts val="0"/>
              </a:spcBef>
              <a:spcAft>
                <a:spcPts val="0"/>
              </a:spcAft>
              <a:buClr>
                <a:schemeClr val="dk1"/>
              </a:buClr>
              <a:buSzPts val="1800"/>
              <a:buFont typeface="Arial"/>
              <a:buChar char="•"/>
            </a:pPr>
            <a:r>
              <a:rPr lang="es-ES" sz="1800">
                <a:solidFill>
                  <a:schemeClr val="dk1"/>
                </a:solidFill>
                <a:latin typeface="Calibri"/>
                <a:ea typeface="Calibri"/>
                <a:cs typeface="Calibri"/>
                <a:sym typeface="Calibri"/>
              </a:rPr>
              <a:t>Diseñar la arquitectura base del sistema CatchAI, definiendo el flujo de entrada de voz, procesamiento lingüístico inicial y salida visual a través de un avatar 3D.</a:t>
            </a:r>
            <a:endParaRPr/>
          </a:p>
          <a:p>
            <a:pPr marL="285750" marR="0" lvl="0" indent="-285750" algn="l" rtl="0">
              <a:spcBef>
                <a:spcPts val="0"/>
              </a:spcBef>
              <a:spcAft>
                <a:spcPts val="0"/>
              </a:spcAft>
              <a:buClr>
                <a:schemeClr val="dk1"/>
              </a:buClr>
              <a:buSzPts val="1800"/>
              <a:buFont typeface="Arial"/>
              <a:buChar char="•"/>
            </a:pPr>
            <a:r>
              <a:rPr lang="es-ES" sz="1800">
                <a:solidFill>
                  <a:schemeClr val="dk1"/>
                </a:solidFill>
                <a:latin typeface="Calibri"/>
                <a:ea typeface="Calibri"/>
                <a:cs typeface="Calibri"/>
                <a:sym typeface="Calibri"/>
              </a:rPr>
              <a:t>Implementar un módulo de reconocimiento automático de voz utilizando modelos o servicios gratuitos o de bajo costo (como OpenAI Whisper).</a:t>
            </a:r>
            <a:endParaRPr/>
          </a:p>
          <a:p>
            <a:pPr marL="285750" marR="0" lvl="0" indent="-285750" algn="l" rtl="0">
              <a:spcBef>
                <a:spcPts val="0"/>
              </a:spcBef>
              <a:spcAft>
                <a:spcPts val="0"/>
              </a:spcAft>
              <a:buClr>
                <a:schemeClr val="dk1"/>
              </a:buClr>
              <a:buSzPts val="1800"/>
              <a:buFont typeface="Arial"/>
              <a:buChar char="•"/>
            </a:pPr>
            <a:r>
              <a:rPr lang="es-ES" sz="1800">
                <a:solidFill>
                  <a:schemeClr val="dk1"/>
                </a:solidFill>
                <a:latin typeface="Calibri"/>
                <a:ea typeface="Calibri"/>
                <a:cs typeface="Calibri"/>
                <a:sym typeface="Calibri"/>
              </a:rPr>
              <a:t>Construir y animar un avatar 3D funcional que ejecute correctamente una seña correspondiente a una palabra o conjunto reducido de glosas en español signado.</a:t>
            </a:r>
            <a:endParaRPr/>
          </a:p>
          <a:p>
            <a:pPr marL="285750" marR="0" lvl="0" indent="-285750" algn="l" rtl="0">
              <a:spcBef>
                <a:spcPts val="0"/>
              </a:spcBef>
              <a:spcAft>
                <a:spcPts val="0"/>
              </a:spcAft>
              <a:buClr>
                <a:schemeClr val="dk1"/>
              </a:buClr>
              <a:buSzPts val="1800"/>
              <a:buFont typeface="Arial"/>
              <a:buChar char="•"/>
            </a:pPr>
            <a:r>
              <a:rPr lang="es-ES" sz="1800">
                <a:solidFill>
                  <a:schemeClr val="dk1"/>
                </a:solidFill>
                <a:latin typeface="Calibri"/>
                <a:ea typeface="Calibri"/>
                <a:cs typeface="Calibri"/>
                <a:sym typeface="Calibri"/>
              </a:rPr>
              <a:t>Generar un diccionario visual inicial de gestos, utilizando material propio capturado mediante herramientas como FreeMoCap, que permita validar la lógica de asignación entre texto transcrito y animación.</a:t>
            </a:r>
            <a:endParaRPr sz="1800">
              <a:solidFill>
                <a:schemeClr val="dk1"/>
              </a:solidFill>
              <a:latin typeface="Calibri"/>
              <a:ea typeface="Calibri"/>
              <a:cs typeface="Calibri"/>
              <a:sym typeface="Calibri"/>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fade">
                                      <p:cBhvr>
                                        <p:cTn id="7" dur="500"/>
                                        <p:tgtEl>
                                          <p:spTgt spid="126"/>
                                        </p:tgtEl>
                                      </p:cBhvr>
                                    </p:animEffect>
                                  </p:childTnLst>
                                </p:cTn>
                              </p:par>
                              <p:par>
                                <p:cTn id="8" presetID="10" presetClass="entr" presetSubtype="0" fill="hold" nodeType="withEffect">
                                  <p:stCondLst>
                                    <p:cond delay="0"/>
                                  </p:stCondLst>
                                  <p:childTnLst>
                                    <p:set>
                                      <p:cBhvr>
                                        <p:cTn id="9" dur="1" fill="hold">
                                          <p:stCondLst>
                                            <p:cond delay="0"/>
                                          </p:stCondLst>
                                        </p:cTn>
                                        <p:tgtEl>
                                          <p:spTgt spid="128"/>
                                        </p:tgtEl>
                                        <p:attrNameLst>
                                          <p:attrName>style.visibility</p:attrName>
                                        </p:attrNameLst>
                                      </p:cBhvr>
                                      <p:to>
                                        <p:strVal val="visible"/>
                                      </p:to>
                                    </p:set>
                                    <p:animEffect transition="in" filter="fade">
                                      <p:cBhvr>
                                        <p:cTn id="10"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5"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34" name="Google Shape;134;p5"/>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757070"/>
                </a:solidFill>
                <a:latin typeface="Calibri"/>
                <a:ea typeface="Calibri"/>
                <a:cs typeface="Calibri"/>
                <a:sym typeface="Calibri"/>
              </a:rPr>
              <a:t>PROYECTO “CatchAI”</a:t>
            </a:r>
            <a:endParaRPr/>
          </a:p>
        </p:txBody>
      </p:sp>
      <p:sp>
        <p:nvSpPr>
          <p:cNvPr id="135" name="Google Shape;135;p5"/>
          <p:cNvSpPr txBox="1"/>
          <p:nvPr/>
        </p:nvSpPr>
        <p:spPr>
          <a:xfrm>
            <a:off x="136188" y="992902"/>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3600">
                <a:solidFill>
                  <a:schemeClr val="dk1"/>
                </a:solidFill>
                <a:latin typeface="Calibri"/>
                <a:ea typeface="Calibri"/>
                <a:cs typeface="Calibri"/>
                <a:sym typeface="Calibri"/>
              </a:rPr>
              <a:t>Alcances y limitaciones del proyecto</a:t>
            </a:r>
            <a:endParaRPr/>
          </a:p>
        </p:txBody>
      </p:sp>
      <p:cxnSp>
        <p:nvCxnSpPr>
          <p:cNvPr id="136" name="Google Shape;136;p5"/>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137" name="Google Shape;137;p5"/>
          <p:cNvSpPr/>
          <p:nvPr/>
        </p:nvSpPr>
        <p:spPr>
          <a:xfrm>
            <a:off x="375386" y="1727309"/>
            <a:ext cx="5653238" cy="4952624"/>
          </a:xfrm>
          <a:prstGeom prst="roundRect">
            <a:avLst>
              <a:gd name="adj" fmla="val 10901"/>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ES" sz="2800" u="sng">
                <a:solidFill>
                  <a:schemeClr val="dk1"/>
                </a:solidFill>
                <a:latin typeface="Calibri"/>
                <a:ea typeface="Calibri"/>
                <a:cs typeface="Calibri"/>
                <a:sym typeface="Calibri"/>
              </a:rPr>
              <a:t>Alcances</a:t>
            </a:r>
            <a:endParaRPr/>
          </a:p>
          <a:p>
            <a:pPr marL="285750" marR="0" lvl="0" indent="-285750" algn="just" rtl="0">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Validación del flujo técnico completo voz → texto → glosa → animación mediante un MVP funcional.</a:t>
            </a:r>
            <a:endParaRPr/>
          </a:p>
          <a:p>
            <a:pPr marL="285750" marR="0" lvl="0" indent="-285750" algn="just" rtl="0">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Traducción de una palabra hablada a español signado utilizando un avatar 3D.</a:t>
            </a:r>
            <a:endParaRPr/>
          </a:p>
          <a:p>
            <a:pPr marL="285750" marR="0" lvl="0" indent="-285750" algn="just" rtl="0">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Implementación de Whisper en CPU local para reconocimiento de voz.</a:t>
            </a:r>
            <a:endParaRPr/>
          </a:p>
          <a:p>
            <a:pPr marL="285750" marR="0" lvl="0" indent="-285750" algn="just" rtl="0">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Procesamiento lingüístico inicial que asigna la glosa desde un diccionario visual propio.</a:t>
            </a:r>
            <a:endParaRPr/>
          </a:p>
          <a:p>
            <a:pPr marL="285750" marR="0" lvl="0" indent="-285750" algn="just" rtl="0">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Desarrollo de un avatar 3D funcional capaz de reproducir la animación correspondiente.</a:t>
            </a:r>
            <a:endParaRPr/>
          </a:p>
          <a:p>
            <a:pPr marL="285750" marR="0" lvl="0" indent="-285750" algn="just" rtl="0">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Uso de software libre (Whisper, FreeMoCap, Blender, Godot) para asegurar factibilidad técnica.</a:t>
            </a:r>
            <a:endParaRPr sz="2000">
              <a:solidFill>
                <a:schemeClr val="dk1"/>
              </a:solidFill>
              <a:latin typeface="Calibri"/>
              <a:ea typeface="Calibri"/>
              <a:cs typeface="Calibri"/>
              <a:sym typeface="Calibri"/>
            </a:endParaRPr>
          </a:p>
        </p:txBody>
      </p:sp>
      <p:sp>
        <p:nvSpPr>
          <p:cNvPr id="138" name="Google Shape;138;p5"/>
          <p:cNvSpPr/>
          <p:nvPr/>
        </p:nvSpPr>
        <p:spPr>
          <a:xfrm>
            <a:off x="6163380" y="1727309"/>
            <a:ext cx="5750178" cy="4952624"/>
          </a:xfrm>
          <a:prstGeom prst="roundRect">
            <a:avLst>
              <a:gd name="adj" fmla="val 10901"/>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ES" sz="2800" u="sng">
                <a:solidFill>
                  <a:schemeClr val="dk1"/>
                </a:solidFill>
                <a:latin typeface="Calibri"/>
                <a:ea typeface="Calibri"/>
                <a:cs typeface="Calibri"/>
                <a:sym typeface="Calibri"/>
              </a:rPr>
              <a:t>Limitaciones</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El MVP funciona solo con una palabra, no oraciones completas.</a:t>
            </a:r>
            <a:endParaRPr/>
          </a:p>
          <a:p>
            <a:pPr marL="342900" marR="0" lvl="0" indent="-342900" algn="l" rtl="0">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Se utiliza español signado, ya que no existe un diccionario digital completo de LSCh.</a:t>
            </a:r>
            <a:endParaRPr/>
          </a:p>
          <a:p>
            <a:pPr marL="342900" marR="0" lvl="0" indent="-342900" algn="l" rtl="0">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Diccionario visual reducido y sin validación profesional externa.</a:t>
            </a:r>
            <a:endParaRPr/>
          </a:p>
          <a:p>
            <a:pPr marL="342900" marR="0" lvl="0" indent="-342900" algn="l" rtl="0">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Limitaciones de hardware (sin GPU) reducen la calidad de captura y la complejidad del modelo.</a:t>
            </a:r>
            <a:endParaRPr/>
          </a:p>
          <a:p>
            <a:pPr marL="342900" marR="0" lvl="0" indent="-342900" algn="l" rtl="0">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El objetivo del MVP es validar el pipeline técnico, no entregar un sistema final.</a:t>
            </a:r>
            <a:endParaRPr sz="2000">
              <a:solidFill>
                <a:schemeClr val="dk1"/>
              </a:solidFill>
              <a:latin typeface="Calibri"/>
              <a:ea typeface="Calibri"/>
              <a:cs typeface="Calibri"/>
              <a:sym typeface="Calibri"/>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7"/>
                                        </p:tgtEl>
                                        <p:attrNameLst>
                                          <p:attrName>style.visibility</p:attrName>
                                        </p:attrNameLst>
                                      </p:cBhvr>
                                      <p:to>
                                        <p:strVal val="visible"/>
                                      </p:to>
                                    </p:set>
                                    <p:animEffect transition="in" filter="fade">
                                      <p:cBhvr>
                                        <p:cTn id="7" dur="500"/>
                                        <p:tgtEl>
                                          <p:spTgt spid="1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8"/>
                                        </p:tgtEl>
                                        <p:attrNameLst>
                                          <p:attrName>style.visibility</p:attrName>
                                        </p:attrNameLst>
                                      </p:cBhvr>
                                      <p:to>
                                        <p:strVal val="visible"/>
                                      </p:to>
                                    </p:set>
                                    <p:animEffect transition="in" filter="fade">
                                      <p:cBhvr>
                                        <p:cTn id="12"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pic>
        <p:nvPicPr>
          <p:cNvPr id="143" name="Google Shape;143;p6"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44" name="Google Shape;144;p6"/>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757070"/>
                </a:solidFill>
                <a:latin typeface="Calibri"/>
                <a:ea typeface="Calibri"/>
                <a:cs typeface="Calibri"/>
                <a:sym typeface="Calibri"/>
              </a:rPr>
              <a:t>PROYECTO “CatchAI”</a:t>
            </a:r>
            <a:endParaRPr/>
          </a:p>
        </p:txBody>
      </p:sp>
      <p:sp>
        <p:nvSpPr>
          <p:cNvPr id="145" name="Google Shape;145;p6"/>
          <p:cNvSpPr txBox="1"/>
          <p:nvPr/>
        </p:nvSpPr>
        <p:spPr>
          <a:xfrm>
            <a:off x="0" y="1432655"/>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3600">
                <a:solidFill>
                  <a:schemeClr val="dk1"/>
                </a:solidFill>
                <a:latin typeface="Calibri"/>
                <a:ea typeface="Calibri"/>
                <a:cs typeface="Calibri"/>
                <a:sym typeface="Calibri"/>
              </a:rPr>
              <a:t>Metodología de trabajo para el desarrollo del proyecto</a:t>
            </a:r>
            <a:endParaRPr sz="1800">
              <a:solidFill>
                <a:schemeClr val="dk1"/>
              </a:solidFill>
              <a:latin typeface="Calibri"/>
              <a:ea typeface="Calibri"/>
              <a:cs typeface="Calibri"/>
              <a:sym typeface="Calibri"/>
            </a:endParaRPr>
          </a:p>
        </p:txBody>
      </p:sp>
      <p:cxnSp>
        <p:nvCxnSpPr>
          <p:cNvPr id="146" name="Google Shape;146;p6"/>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147" name="Google Shape;147;p6"/>
          <p:cNvSpPr txBox="1"/>
          <p:nvPr/>
        </p:nvSpPr>
        <p:spPr>
          <a:xfrm>
            <a:off x="962526" y="2218403"/>
            <a:ext cx="10077651" cy="4093428"/>
          </a:xfrm>
          <a:prstGeom prst="rect">
            <a:avLst/>
          </a:prstGeom>
          <a:noFill/>
          <a:ln>
            <a:noFill/>
          </a:ln>
        </p:spPr>
        <p:txBody>
          <a:bodyPr spcFirstLastPara="1" wrap="square" lIns="91425" tIns="45700" rIns="91425" bIns="45700" anchor="t" anchorCtr="0">
            <a:spAutoFit/>
          </a:bodyPr>
          <a:lstStyle/>
          <a:p>
            <a:pPr marL="0" marR="0" lvl="0" indent="-127000" algn="l" rtl="0">
              <a:spcBef>
                <a:spcPts val="0"/>
              </a:spcBef>
              <a:spcAft>
                <a:spcPts val="0"/>
              </a:spcAft>
              <a:buClr>
                <a:schemeClr val="dk1"/>
              </a:buClr>
              <a:buSzPts val="2000"/>
              <a:buFont typeface="Arial"/>
              <a:buChar char="•"/>
            </a:pPr>
            <a:r>
              <a:rPr lang="es-ES" sz="2000" dirty="0">
                <a:solidFill>
                  <a:schemeClr val="dk1"/>
                </a:solidFill>
                <a:latin typeface="Calibri"/>
                <a:ea typeface="Calibri"/>
                <a:cs typeface="Calibri"/>
                <a:sym typeface="Calibri"/>
              </a:rPr>
              <a:t>Se utilizó </a:t>
            </a:r>
            <a:r>
              <a:rPr lang="es-ES" sz="2000" b="1" dirty="0">
                <a:solidFill>
                  <a:schemeClr val="dk1"/>
                </a:solidFill>
                <a:latin typeface="Calibri"/>
                <a:ea typeface="Calibri"/>
                <a:cs typeface="Calibri"/>
                <a:sym typeface="Calibri"/>
              </a:rPr>
              <a:t>Scrum</a:t>
            </a:r>
            <a:r>
              <a:rPr lang="es-ES" sz="2000" dirty="0">
                <a:solidFill>
                  <a:schemeClr val="dk1"/>
                </a:solidFill>
                <a:latin typeface="Calibri"/>
                <a:ea typeface="Calibri"/>
                <a:cs typeface="Calibri"/>
                <a:sym typeface="Calibri"/>
              </a:rPr>
              <a:t> como metodología principal, con trabajo iterativo e incremental.</a:t>
            </a:r>
            <a:endParaRPr dirty="0"/>
          </a:p>
          <a:p>
            <a:pPr marL="0" marR="0" lvl="0" indent="-127000" algn="l" rtl="0">
              <a:spcBef>
                <a:spcPts val="0"/>
              </a:spcBef>
              <a:spcAft>
                <a:spcPts val="0"/>
              </a:spcAft>
              <a:buClr>
                <a:schemeClr val="dk1"/>
              </a:buClr>
              <a:buSzPts val="2000"/>
              <a:buFont typeface="Arial"/>
              <a:buChar char="•"/>
            </a:pPr>
            <a:r>
              <a:rPr lang="es-ES" sz="2000" dirty="0">
                <a:solidFill>
                  <a:schemeClr val="dk1"/>
                </a:solidFill>
                <a:latin typeface="Calibri"/>
                <a:ea typeface="Calibri"/>
                <a:cs typeface="Calibri"/>
                <a:sym typeface="Calibri"/>
              </a:rPr>
              <a:t>Cada </a:t>
            </a:r>
            <a:r>
              <a:rPr lang="es-ES" sz="2000" b="1" dirty="0">
                <a:solidFill>
                  <a:schemeClr val="dk1"/>
                </a:solidFill>
                <a:latin typeface="Calibri"/>
                <a:ea typeface="Calibri"/>
                <a:cs typeface="Calibri"/>
                <a:sym typeface="Calibri"/>
              </a:rPr>
              <a:t>sprint</a:t>
            </a:r>
            <a:r>
              <a:rPr lang="es-ES" sz="2000" dirty="0">
                <a:solidFill>
                  <a:schemeClr val="dk1"/>
                </a:solidFill>
                <a:latin typeface="Calibri"/>
                <a:ea typeface="Calibri"/>
                <a:cs typeface="Calibri"/>
                <a:sym typeface="Calibri"/>
              </a:rPr>
              <a:t> tuvo una duración de 2–3 semanas, con objetivos claros y priorizados en el </a:t>
            </a:r>
            <a:r>
              <a:rPr lang="es-ES" sz="2000" dirty="0" err="1">
                <a:solidFill>
                  <a:schemeClr val="dk1"/>
                </a:solidFill>
                <a:latin typeface="Calibri"/>
                <a:ea typeface="Calibri"/>
                <a:cs typeface="Calibri"/>
                <a:sym typeface="Calibri"/>
              </a:rPr>
              <a:t>Product</a:t>
            </a:r>
            <a:r>
              <a:rPr lang="es-ES" sz="2000" dirty="0">
                <a:solidFill>
                  <a:schemeClr val="dk1"/>
                </a:solidFill>
                <a:latin typeface="Calibri"/>
                <a:ea typeface="Calibri"/>
                <a:cs typeface="Calibri"/>
                <a:sym typeface="Calibri"/>
              </a:rPr>
              <a:t> Backlog.</a:t>
            </a:r>
            <a:endParaRPr dirty="0"/>
          </a:p>
          <a:p>
            <a:pPr marL="0" marR="0" lvl="0" indent="-127000" algn="l" rtl="0">
              <a:spcBef>
                <a:spcPts val="0"/>
              </a:spcBef>
              <a:spcAft>
                <a:spcPts val="0"/>
              </a:spcAft>
              <a:buClr>
                <a:schemeClr val="dk1"/>
              </a:buClr>
              <a:buSzPts val="2000"/>
              <a:buFont typeface="Arial"/>
              <a:buChar char="•"/>
            </a:pPr>
            <a:r>
              <a:rPr lang="es-ES" sz="2000" dirty="0">
                <a:solidFill>
                  <a:schemeClr val="dk1"/>
                </a:solidFill>
                <a:latin typeface="Calibri"/>
                <a:ea typeface="Calibri"/>
                <a:cs typeface="Calibri"/>
                <a:sym typeface="Calibri"/>
              </a:rPr>
              <a:t>En cada sprint se desarrollaron componentes específicos del flujo </a:t>
            </a:r>
            <a:r>
              <a:rPr lang="es-ES" sz="2000" b="1" dirty="0">
                <a:solidFill>
                  <a:schemeClr val="dk1"/>
                </a:solidFill>
                <a:latin typeface="Calibri"/>
                <a:ea typeface="Calibri"/>
                <a:cs typeface="Calibri"/>
                <a:sym typeface="Calibri"/>
              </a:rPr>
              <a:t>voz → texto → glosa → animación</a:t>
            </a:r>
            <a:r>
              <a:rPr lang="es-ES" sz="2000" dirty="0">
                <a:solidFill>
                  <a:schemeClr val="dk1"/>
                </a:solidFill>
                <a:latin typeface="Calibri"/>
                <a:ea typeface="Calibri"/>
                <a:cs typeface="Calibri"/>
                <a:sym typeface="Calibri"/>
              </a:rPr>
              <a:t>.</a:t>
            </a:r>
            <a:endParaRPr dirty="0"/>
          </a:p>
          <a:p>
            <a:pPr marL="0" marR="0" lvl="0" indent="-127000" algn="l" rtl="0">
              <a:spcBef>
                <a:spcPts val="0"/>
              </a:spcBef>
              <a:spcAft>
                <a:spcPts val="0"/>
              </a:spcAft>
              <a:buClr>
                <a:schemeClr val="dk1"/>
              </a:buClr>
              <a:buSzPts val="2000"/>
              <a:buFont typeface="Arial"/>
              <a:buChar char="•"/>
            </a:pPr>
            <a:r>
              <a:rPr lang="es-ES" sz="2000" dirty="0">
                <a:solidFill>
                  <a:schemeClr val="dk1"/>
                </a:solidFill>
                <a:latin typeface="Calibri"/>
                <a:ea typeface="Calibri"/>
                <a:cs typeface="Calibri"/>
                <a:sym typeface="Calibri"/>
              </a:rPr>
              <a:t>El avance se gestionó mediante </a:t>
            </a:r>
            <a:r>
              <a:rPr lang="es-ES" sz="2000" b="1" dirty="0">
                <a:solidFill>
                  <a:schemeClr val="dk1"/>
                </a:solidFill>
                <a:latin typeface="Calibri"/>
                <a:ea typeface="Calibri"/>
                <a:cs typeface="Calibri"/>
                <a:sym typeface="Calibri"/>
              </a:rPr>
              <a:t>tableros Kanban </a:t>
            </a:r>
            <a:r>
              <a:rPr lang="es-ES" sz="2000" dirty="0">
                <a:solidFill>
                  <a:schemeClr val="dk1"/>
                </a:solidFill>
                <a:latin typeface="Calibri"/>
                <a:ea typeface="Calibri"/>
                <a:cs typeface="Calibri"/>
                <a:sym typeface="Calibri"/>
              </a:rPr>
              <a:t>(Trello) y </a:t>
            </a:r>
            <a:r>
              <a:rPr lang="es-ES" sz="2000" b="1" dirty="0">
                <a:solidFill>
                  <a:schemeClr val="dk1"/>
                </a:solidFill>
                <a:latin typeface="Calibri"/>
                <a:ea typeface="Calibri"/>
                <a:cs typeface="Calibri"/>
                <a:sym typeface="Calibri"/>
              </a:rPr>
              <a:t>carta</a:t>
            </a:r>
            <a:r>
              <a:rPr lang="es-ES" sz="2000" dirty="0">
                <a:solidFill>
                  <a:schemeClr val="dk1"/>
                </a:solidFill>
                <a:latin typeface="Calibri"/>
                <a:ea typeface="Calibri"/>
                <a:cs typeface="Calibri"/>
                <a:sym typeface="Calibri"/>
              </a:rPr>
              <a:t> </a:t>
            </a:r>
            <a:r>
              <a:rPr lang="es-ES" sz="2000" b="1" dirty="0">
                <a:solidFill>
                  <a:schemeClr val="dk1"/>
                </a:solidFill>
                <a:latin typeface="Calibri"/>
                <a:ea typeface="Calibri"/>
                <a:cs typeface="Calibri"/>
                <a:sym typeface="Calibri"/>
              </a:rPr>
              <a:t>Gantt</a:t>
            </a:r>
            <a:r>
              <a:rPr lang="es-ES" sz="2000" dirty="0">
                <a:solidFill>
                  <a:schemeClr val="dk1"/>
                </a:solidFill>
                <a:latin typeface="Calibri"/>
                <a:ea typeface="Calibri"/>
                <a:cs typeface="Calibri"/>
                <a:sym typeface="Calibri"/>
              </a:rPr>
              <a:t>.</a:t>
            </a:r>
            <a:endParaRPr dirty="0"/>
          </a:p>
          <a:p>
            <a:pPr marL="0" marR="0" lvl="0" indent="-127000" algn="l" rtl="0">
              <a:spcBef>
                <a:spcPts val="0"/>
              </a:spcBef>
              <a:spcAft>
                <a:spcPts val="0"/>
              </a:spcAft>
              <a:buClr>
                <a:schemeClr val="dk1"/>
              </a:buClr>
              <a:buSzPts val="2000"/>
              <a:buFont typeface="Arial"/>
              <a:buChar char="•"/>
            </a:pPr>
            <a:r>
              <a:rPr lang="es-ES" sz="2000" dirty="0">
                <a:solidFill>
                  <a:schemeClr val="dk1"/>
                </a:solidFill>
                <a:latin typeface="Calibri"/>
                <a:ea typeface="Calibri"/>
                <a:cs typeface="Calibri"/>
                <a:sym typeface="Calibri"/>
              </a:rPr>
              <a:t>Se realizaron actividades formales en cada ciclo:</a:t>
            </a:r>
            <a:endParaRPr dirty="0"/>
          </a:p>
          <a:p>
            <a:pPr marL="742950" marR="0" lvl="1" indent="-285750" algn="l" rtl="0">
              <a:spcBef>
                <a:spcPts val="0"/>
              </a:spcBef>
              <a:spcAft>
                <a:spcPts val="0"/>
              </a:spcAft>
              <a:buClr>
                <a:schemeClr val="dk1"/>
              </a:buClr>
              <a:buSzPts val="2000"/>
              <a:buFont typeface="Arial"/>
              <a:buChar char="•"/>
            </a:pPr>
            <a:r>
              <a:rPr lang="es-ES" sz="2000" b="1" i="0" u="none" strike="noStrike" cap="none" dirty="0">
                <a:solidFill>
                  <a:schemeClr val="dk1"/>
                </a:solidFill>
                <a:latin typeface="Calibri"/>
                <a:ea typeface="Calibri"/>
                <a:cs typeface="Calibri"/>
                <a:sym typeface="Calibri"/>
              </a:rPr>
              <a:t>Planificación</a:t>
            </a:r>
            <a:r>
              <a:rPr lang="es-ES" sz="2000" b="0" i="0" u="none" strike="noStrike" cap="none" dirty="0">
                <a:solidFill>
                  <a:schemeClr val="dk1"/>
                </a:solidFill>
                <a:latin typeface="Calibri"/>
                <a:ea typeface="Calibri"/>
                <a:cs typeface="Calibri"/>
                <a:sym typeface="Calibri"/>
              </a:rPr>
              <a:t> del sprint</a:t>
            </a:r>
            <a:endParaRPr dirty="0"/>
          </a:p>
          <a:p>
            <a:pPr marL="742950" marR="0" lvl="1" indent="-285750" algn="l" rtl="0">
              <a:spcBef>
                <a:spcPts val="0"/>
              </a:spcBef>
              <a:spcAft>
                <a:spcPts val="0"/>
              </a:spcAft>
              <a:buClr>
                <a:schemeClr val="dk1"/>
              </a:buClr>
              <a:buSzPts val="2000"/>
              <a:buFont typeface="Arial"/>
              <a:buChar char="•"/>
            </a:pPr>
            <a:r>
              <a:rPr lang="es-ES" sz="2000" b="1" i="0" u="none" strike="noStrike" cap="none" dirty="0">
                <a:solidFill>
                  <a:schemeClr val="dk1"/>
                </a:solidFill>
                <a:latin typeface="Calibri"/>
                <a:ea typeface="Calibri"/>
                <a:cs typeface="Calibri"/>
                <a:sym typeface="Calibri"/>
              </a:rPr>
              <a:t>Desarrollo</a:t>
            </a:r>
            <a:r>
              <a:rPr lang="es-ES" sz="2000" b="0" i="0" u="none" strike="noStrike" cap="none" dirty="0">
                <a:solidFill>
                  <a:schemeClr val="dk1"/>
                </a:solidFill>
                <a:latin typeface="Calibri"/>
                <a:ea typeface="Calibri"/>
                <a:cs typeface="Calibri"/>
                <a:sym typeface="Calibri"/>
              </a:rPr>
              <a:t> del incremento</a:t>
            </a:r>
            <a:endParaRPr dirty="0"/>
          </a:p>
          <a:p>
            <a:pPr marL="742950" marR="0" lvl="1" indent="-285750" algn="l" rtl="0">
              <a:spcBef>
                <a:spcPts val="0"/>
              </a:spcBef>
              <a:spcAft>
                <a:spcPts val="0"/>
              </a:spcAft>
              <a:buClr>
                <a:schemeClr val="dk1"/>
              </a:buClr>
              <a:buSzPts val="2000"/>
              <a:buFont typeface="Arial"/>
              <a:buChar char="•"/>
            </a:pPr>
            <a:r>
              <a:rPr lang="es-ES" sz="2000" b="1" i="0" u="none" strike="noStrike" cap="none" dirty="0">
                <a:solidFill>
                  <a:schemeClr val="dk1"/>
                </a:solidFill>
                <a:latin typeface="Calibri"/>
                <a:ea typeface="Calibri"/>
                <a:cs typeface="Calibri"/>
                <a:sym typeface="Calibri"/>
              </a:rPr>
              <a:t>Revisión</a:t>
            </a:r>
            <a:r>
              <a:rPr lang="es-ES" sz="2000" b="0" i="0" u="none" strike="noStrike" cap="none" dirty="0">
                <a:solidFill>
                  <a:schemeClr val="dk1"/>
                </a:solidFill>
                <a:latin typeface="Calibri"/>
                <a:ea typeface="Calibri"/>
                <a:cs typeface="Calibri"/>
                <a:sym typeface="Calibri"/>
              </a:rPr>
              <a:t> con demostración funcional</a:t>
            </a:r>
            <a:endParaRPr dirty="0"/>
          </a:p>
          <a:p>
            <a:pPr marL="742950" marR="0" lvl="1" indent="-285750" algn="l" rtl="0">
              <a:spcBef>
                <a:spcPts val="0"/>
              </a:spcBef>
              <a:spcAft>
                <a:spcPts val="0"/>
              </a:spcAft>
              <a:buClr>
                <a:schemeClr val="dk1"/>
              </a:buClr>
              <a:buSzPts val="2000"/>
              <a:buFont typeface="Arial"/>
              <a:buChar char="•"/>
            </a:pPr>
            <a:r>
              <a:rPr lang="es-ES" sz="2000" b="1" i="0" u="none" strike="noStrike" cap="none" dirty="0">
                <a:solidFill>
                  <a:schemeClr val="dk1"/>
                </a:solidFill>
                <a:latin typeface="Calibri"/>
                <a:ea typeface="Calibri"/>
                <a:cs typeface="Calibri"/>
                <a:sym typeface="Calibri"/>
              </a:rPr>
              <a:t>Retroalimentación</a:t>
            </a:r>
            <a:r>
              <a:rPr lang="es-ES" sz="2000" b="0" i="0" u="none" strike="noStrike" cap="none" dirty="0">
                <a:solidFill>
                  <a:schemeClr val="dk1"/>
                </a:solidFill>
                <a:latin typeface="Calibri"/>
                <a:ea typeface="Calibri"/>
                <a:cs typeface="Calibri"/>
                <a:sym typeface="Calibri"/>
              </a:rPr>
              <a:t> del docente</a:t>
            </a:r>
            <a:endParaRPr dirty="0"/>
          </a:p>
          <a:p>
            <a:pPr marL="742950" marR="0" lvl="1" indent="-285750" algn="l" rtl="0">
              <a:spcBef>
                <a:spcPts val="0"/>
              </a:spcBef>
              <a:spcAft>
                <a:spcPts val="0"/>
              </a:spcAft>
              <a:buClr>
                <a:schemeClr val="dk1"/>
              </a:buClr>
              <a:buSzPts val="2000"/>
              <a:buFont typeface="Arial"/>
              <a:buChar char="•"/>
            </a:pPr>
            <a:r>
              <a:rPr lang="es-ES" sz="2000" b="1" i="0" u="none" strike="noStrike" cap="none" dirty="0">
                <a:solidFill>
                  <a:schemeClr val="dk1"/>
                </a:solidFill>
                <a:latin typeface="Calibri"/>
                <a:ea typeface="Calibri"/>
                <a:cs typeface="Calibri"/>
                <a:sym typeface="Calibri"/>
              </a:rPr>
              <a:t>Retrospectiva</a:t>
            </a:r>
            <a:r>
              <a:rPr lang="es-ES" sz="2000" b="0" i="0" u="none" strike="noStrike" cap="none" dirty="0">
                <a:solidFill>
                  <a:schemeClr val="dk1"/>
                </a:solidFill>
                <a:latin typeface="Calibri"/>
                <a:ea typeface="Calibri"/>
                <a:cs typeface="Calibri"/>
                <a:sym typeface="Calibri"/>
              </a:rPr>
              <a:t> para ajustar procesos</a:t>
            </a:r>
            <a:endParaRPr dirty="0"/>
          </a:p>
          <a:p>
            <a:pPr marL="0" marR="0" lvl="0" indent="-127000" algn="l" rtl="0">
              <a:spcBef>
                <a:spcPts val="0"/>
              </a:spcBef>
              <a:spcAft>
                <a:spcPts val="0"/>
              </a:spcAft>
              <a:buClr>
                <a:schemeClr val="dk1"/>
              </a:buClr>
              <a:buSzPts val="2000"/>
              <a:buFont typeface="Arial"/>
              <a:buChar char="•"/>
            </a:pPr>
            <a:r>
              <a:rPr lang="es-ES" sz="2000" dirty="0">
                <a:solidFill>
                  <a:schemeClr val="dk1"/>
                </a:solidFill>
                <a:latin typeface="Calibri"/>
                <a:ea typeface="Calibri"/>
                <a:cs typeface="Calibri"/>
                <a:sym typeface="Calibri"/>
              </a:rPr>
              <a:t>La metodología aseguró entregas continuas, trazabilidad y capacidad de respuesta a cambios.</a:t>
            </a:r>
            <a:endParaRPr dirty="0"/>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p7"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53" name="Google Shape;153;p7"/>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757070"/>
                </a:solidFill>
                <a:latin typeface="Calibri"/>
                <a:ea typeface="Calibri"/>
                <a:cs typeface="Calibri"/>
                <a:sym typeface="Calibri"/>
              </a:rPr>
              <a:t>PROYECTO “CatchAI”</a:t>
            </a:r>
            <a:endParaRPr/>
          </a:p>
        </p:txBody>
      </p:sp>
      <p:sp>
        <p:nvSpPr>
          <p:cNvPr id="154" name="Google Shape;154;p7"/>
          <p:cNvSpPr txBox="1"/>
          <p:nvPr/>
        </p:nvSpPr>
        <p:spPr>
          <a:xfrm>
            <a:off x="1" y="776526"/>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3600">
                <a:solidFill>
                  <a:schemeClr val="dk1"/>
                </a:solidFill>
                <a:latin typeface="Calibri"/>
                <a:ea typeface="Calibri"/>
                <a:cs typeface="Calibri"/>
                <a:sym typeface="Calibri"/>
              </a:rPr>
              <a:t>Cronograma para el desarrollo del proyecto</a:t>
            </a:r>
            <a:endParaRPr/>
          </a:p>
        </p:txBody>
      </p:sp>
      <p:cxnSp>
        <p:nvCxnSpPr>
          <p:cNvPr id="155" name="Google Shape;155;p7"/>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pic>
        <p:nvPicPr>
          <p:cNvPr id="156" name="Google Shape;156;p7"/>
          <p:cNvPicPr preferRelativeResize="0"/>
          <p:nvPr/>
        </p:nvPicPr>
        <p:blipFill rotWithShape="1">
          <a:blip r:embed="rId4">
            <a:alphaModFix/>
          </a:blip>
          <a:srcRect/>
          <a:stretch/>
        </p:blipFill>
        <p:spPr>
          <a:xfrm>
            <a:off x="1965406" y="1492773"/>
            <a:ext cx="8261187" cy="5157677"/>
          </a:xfrm>
          <a:prstGeom prst="rect">
            <a:avLst/>
          </a:prstGeom>
          <a:noFill/>
          <a:ln>
            <a:noFill/>
          </a:ln>
        </p:spPr>
      </p:pic>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8"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62" name="Google Shape;162;p8"/>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757070"/>
                </a:solidFill>
                <a:latin typeface="Calibri"/>
                <a:ea typeface="Calibri"/>
                <a:cs typeface="Calibri"/>
                <a:sym typeface="Calibri"/>
              </a:rPr>
              <a:t>PROYECTO “CatchAI”</a:t>
            </a:r>
            <a:endParaRPr/>
          </a:p>
        </p:txBody>
      </p:sp>
      <p:sp>
        <p:nvSpPr>
          <p:cNvPr id="163" name="Google Shape;163;p8"/>
          <p:cNvSpPr txBox="1"/>
          <p:nvPr/>
        </p:nvSpPr>
        <p:spPr>
          <a:xfrm>
            <a:off x="1" y="776526"/>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3600">
                <a:solidFill>
                  <a:schemeClr val="dk1"/>
                </a:solidFill>
                <a:latin typeface="Calibri"/>
                <a:ea typeface="Calibri"/>
                <a:cs typeface="Calibri"/>
                <a:sym typeface="Calibri"/>
              </a:rPr>
              <a:t>Cronograma para el desarrollo del proyecto</a:t>
            </a:r>
            <a:endParaRPr/>
          </a:p>
        </p:txBody>
      </p:sp>
      <p:cxnSp>
        <p:nvCxnSpPr>
          <p:cNvPr id="164" name="Google Shape;164;p8"/>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pic>
        <p:nvPicPr>
          <p:cNvPr id="165" name="Google Shape;165;p8"/>
          <p:cNvPicPr preferRelativeResize="0"/>
          <p:nvPr/>
        </p:nvPicPr>
        <p:blipFill rotWithShape="1">
          <a:blip r:embed="rId4">
            <a:alphaModFix/>
          </a:blip>
          <a:srcRect/>
          <a:stretch/>
        </p:blipFill>
        <p:spPr>
          <a:xfrm>
            <a:off x="835793" y="1639841"/>
            <a:ext cx="10520413" cy="4650268"/>
          </a:xfrm>
          <a:prstGeom prst="rect">
            <a:avLst/>
          </a:prstGeom>
          <a:noFill/>
          <a:ln>
            <a:noFill/>
          </a:ln>
        </p:spPr>
      </p:pic>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pic>
        <p:nvPicPr>
          <p:cNvPr id="170" name="Google Shape;170;p9"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71" name="Google Shape;171;p9"/>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757070"/>
                </a:solidFill>
                <a:latin typeface="Calibri"/>
                <a:ea typeface="Calibri"/>
                <a:cs typeface="Calibri"/>
                <a:sym typeface="Calibri"/>
              </a:rPr>
              <a:t>PROYECTO “CatchAI”</a:t>
            </a:r>
            <a:endParaRPr/>
          </a:p>
        </p:txBody>
      </p:sp>
      <p:sp>
        <p:nvSpPr>
          <p:cNvPr id="172" name="Google Shape;172;p9"/>
          <p:cNvSpPr txBox="1"/>
          <p:nvPr/>
        </p:nvSpPr>
        <p:spPr>
          <a:xfrm>
            <a:off x="1" y="664555"/>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3600">
                <a:solidFill>
                  <a:schemeClr val="dk1"/>
                </a:solidFill>
                <a:latin typeface="Calibri"/>
                <a:ea typeface="Calibri"/>
                <a:cs typeface="Calibri"/>
                <a:sym typeface="Calibri"/>
              </a:rPr>
              <a:t>Arquitectura del software</a:t>
            </a:r>
            <a:endParaRPr/>
          </a:p>
        </p:txBody>
      </p:sp>
      <p:cxnSp>
        <p:nvCxnSpPr>
          <p:cNvPr id="173" name="Google Shape;173;p9"/>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pic>
        <p:nvPicPr>
          <p:cNvPr id="174" name="Google Shape;174;p9" descr="Una captura de pantalla de un mapa&#10;&#10;El contenido generado por IA puede ser incorrecto."/>
          <p:cNvPicPr preferRelativeResize="0"/>
          <p:nvPr/>
        </p:nvPicPr>
        <p:blipFill rotWithShape="1">
          <a:blip r:embed="rId4">
            <a:alphaModFix/>
          </a:blip>
          <a:srcRect/>
          <a:stretch/>
        </p:blipFill>
        <p:spPr>
          <a:xfrm>
            <a:off x="1487550" y="1181900"/>
            <a:ext cx="9216900" cy="5519384"/>
          </a:xfrm>
          <a:prstGeom prst="rect">
            <a:avLst/>
          </a:prstGeom>
          <a:noFill/>
          <a:ln>
            <a:noFill/>
          </a:ln>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pic>
        <p:nvPicPr>
          <p:cNvPr id="179" name="Google Shape;179;p10"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80" name="Google Shape;180;p10"/>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757070"/>
                </a:solidFill>
                <a:latin typeface="Calibri"/>
                <a:ea typeface="Calibri"/>
                <a:cs typeface="Calibri"/>
                <a:sym typeface="Calibri"/>
              </a:rPr>
              <a:t>PROYECTO “CatchAI”</a:t>
            </a:r>
            <a:endParaRPr/>
          </a:p>
        </p:txBody>
      </p:sp>
      <p:sp>
        <p:nvSpPr>
          <p:cNvPr id="181" name="Google Shape;181;p10"/>
          <p:cNvSpPr txBox="1"/>
          <p:nvPr/>
        </p:nvSpPr>
        <p:spPr>
          <a:xfrm>
            <a:off x="1" y="777795"/>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3600">
                <a:solidFill>
                  <a:schemeClr val="dk1"/>
                </a:solidFill>
                <a:latin typeface="Calibri"/>
                <a:ea typeface="Calibri"/>
                <a:cs typeface="Calibri"/>
                <a:sym typeface="Calibri"/>
              </a:rPr>
              <a:t>Modelo de datos</a:t>
            </a:r>
            <a:endParaRPr/>
          </a:p>
        </p:txBody>
      </p:sp>
      <p:cxnSp>
        <p:nvCxnSpPr>
          <p:cNvPr id="182" name="Google Shape;182;p10"/>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pic>
        <p:nvPicPr>
          <p:cNvPr id="183" name="Google Shape;183;p10" descr="Diagrama&#10;&#10;El contenido generado por IA puede ser incorrecto."/>
          <p:cNvPicPr preferRelativeResize="0"/>
          <p:nvPr/>
        </p:nvPicPr>
        <p:blipFill rotWithShape="1">
          <a:blip r:embed="rId4">
            <a:alphaModFix/>
          </a:blip>
          <a:srcRect/>
          <a:stretch/>
        </p:blipFill>
        <p:spPr>
          <a:xfrm>
            <a:off x="852487" y="2185987"/>
            <a:ext cx="10487025" cy="2486025"/>
          </a:xfrm>
          <a:prstGeom prst="rect">
            <a:avLst/>
          </a:prstGeom>
          <a:noFill/>
          <a:ln>
            <a:noFill/>
          </a:ln>
        </p:spPr>
      </p:pic>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11"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89" name="Google Shape;189;p11"/>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757070"/>
                </a:solidFill>
                <a:latin typeface="Calibri"/>
                <a:ea typeface="Calibri"/>
                <a:cs typeface="Calibri"/>
                <a:sym typeface="Calibri"/>
              </a:rPr>
              <a:t>PROYECTO “CatchAI”</a:t>
            </a:r>
            <a:endParaRPr/>
          </a:p>
        </p:txBody>
      </p:sp>
      <p:sp>
        <p:nvSpPr>
          <p:cNvPr id="190" name="Google Shape;190;p11"/>
          <p:cNvSpPr txBox="1"/>
          <p:nvPr/>
        </p:nvSpPr>
        <p:spPr>
          <a:xfrm>
            <a:off x="0" y="1432655"/>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3600">
                <a:solidFill>
                  <a:schemeClr val="dk1"/>
                </a:solidFill>
                <a:latin typeface="Calibri"/>
                <a:ea typeface="Calibri"/>
                <a:cs typeface="Calibri"/>
                <a:sym typeface="Calibri"/>
              </a:rPr>
              <a:t>Tecnologías utilizadas</a:t>
            </a:r>
            <a:endParaRPr/>
          </a:p>
        </p:txBody>
      </p:sp>
      <p:cxnSp>
        <p:nvCxnSpPr>
          <p:cNvPr id="191" name="Google Shape;191;p11"/>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192" name="Google Shape;192;p11"/>
          <p:cNvSpPr/>
          <p:nvPr/>
        </p:nvSpPr>
        <p:spPr>
          <a:xfrm>
            <a:off x="296663" y="2078986"/>
            <a:ext cx="5292684" cy="4491372"/>
          </a:xfrm>
          <a:prstGeom prst="roundRect">
            <a:avLst>
              <a:gd name="adj" fmla="val 10901"/>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ES" sz="2000" b="1">
                <a:solidFill>
                  <a:schemeClr val="dk1"/>
                </a:solidFill>
                <a:latin typeface="Calibri"/>
                <a:ea typeface="Calibri"/>
                <a:cs typeface="Calibri"/>
                <a:sym typeface="Calibri"/>
              </a:rPr>
              <a:t>🟦 Reconocimiento de voz</a:t>
            </a:r>
            <a:endParaRPr/>
          </a:p>
          <a:p>
            <a:pPr marL="0" marR="0" lvl="0" indent="0" algn="l" rtl="0">
              <a:spcBef>
                <a:spcPts val="0"/>
              </a:spcBef>
              <a:spcAft>
                <a:spcPts val="0"/>
              </a:spcAft>
              <a:buNone/>
            </a:pPr>
            <a:r>
              <a:rPr lang="es-ES" sz="2000" b="1">
                <a:solidFill>
                  <a:schemeClr val="dk1"/>
                </a:solidFill>
                <a:latin typeface="Calibri"/>
                <a:ea typeface="Calibri"/>
                <a:cs typeface="Calibri"/>
                <a:sym typeface="Calibri"/>
              </a:rPr>
              <a:t>Whisper / Faster-Whisper</a:t>
            </a:r>
            <a:br>
              <a:rPr lang="es-ES" sz="2000">
                <a:solidFill>
                  <a:schemeClr val="dk1"/>
                </a:solidFill>
                <a:latin typeface="Calibri"/>
                <a:ea typeface="Calibri"/>
                <a:cs typeface="Calibri"/>
                <a:sym typeface="Calibri"/>
              </a:rPr>
            </a:br>
            <a:r>
              <a:rPr lang="es-ES" sz="2000">
                <a:solidFill>
                  <a:schemeClr val="dk1"/>
                </a:solidFill>
                <a:latin typeface="Calibri"/>
                <a:ea typeface="Calibri"/>
                <a:cs typeface="Calibri"/>
                <a:sym typeface="Calibri"/>
              </a:rPr>
              <a:t>Transcripción local desde audio capturado en navegador.</a:t>
            </a:r>
            <a:endParaRPr/>
          </a:p>
          <a:p>
            <a:pPr marL="0" marR="0" lvl="0" indent="0" algn="l" rtl="0">
              <a:spcBef>
                <a:spcPts val="0"/>
              </a:spcBef>
              <a:spcAft>
                <a:spcPts val="0"/>
              </a:spcAft>
              <a:buNone/>
            </a:pPr>
            <a:r>
              <a:rPr lang="es-ES" sz="2000" b="1">
                <a:solidFill>
                  <a:schemeClr val="dk1"/>
                </a:solidFill>
                <a:latin typeface="Calibri"/>
                <a:ea typeface="Calibri"/>
                <a:cs typeface="Calibri"/>
                <a:sym typeface="Calibri"/>
              </a:rPr>
              <a:t>🟩 Backend y comunicación</a:t>
            </a:r>
            <a:endParaRPr/>
          </a:p>
          <a:p>
            <a:pPr marL="0" marR="0" lvl="0" indent="0" algn="l" rtl="0">
              <a:spcBef>
                <a:spcPts val="0"/>
              </a:spcBef>
              <a:spcAft>
                <a:spcPts val="0"/>
              </a:spcAft>
              <a:buNone/>
            </a:pPr>
            <a:r>
              <a:rPr lang="es-ES" sz="2000" b="1">
                <a:solidFill>
                  <a:schemeClr val="dk1"/>
                </a:solidFill>
                <a:latin typeface="Calibri"/>
                <a:ea typeface="Calibri"/>
                <a:cs typeface="Calibri"/>
                <a:sym typeface="Calibri"/>
              </a:rPr>
              <a:t>Python 3.10 – FastAPI – WebSockets</a:t>
            </a:r>
            <a:br>
              <a:rPr lang="es-ES" sz="2000">
                <a:solidFill>
                  <a:schemeClr val="dk1"/>
                </a:solidFill>
                <a:latin typeface="Calibri"/>
                <a:ea typeface="Calibri"/>
                <a:cs typeface="Calibri"/>
                <a:sym typeface="Calibri"/>
              </a:rPr>
            </a:br>
            <a:r>
              <a:rPr lang="es-ES" sz="2000">
                <a:solidFill>
                  <a:schemeClr val="dk1"/>
                </a:solidFill>
                <a:latin typeface="Calibri"/>
                <a:ea typeface="Calibri"/>
                <a:cs typeface="Calibri"/>
                <a:sym typeface="Calibri"/>
              </a:rPr>
              <a:t>Manejo del pipeline y envío de datos al motor gráfico.</a:t>
            </a:r>
            <a:endParaRPr/>
          </a:p>
          <a:p>
            <a:pPr marL="0" marR="0" lvl="0" indent="0" algn="l" rtl="0">
              <a:spcBef>
                <a:spcPts val="0"/>
              </a:spcBef>
              <a:spcAft>
                <a:spcPts val="0"/>
              </a:spcAft>
              <a:buNone/>
            </a:pPr>
            <a:r>
              <a:rPr lang="es-ES" sz="2000" b="1">
                <a:solidFill>
                  <a:schemeClr val="dk1"/>
                </a:solidFill>
                <a:latin typeface="Calibri"/>
                <a:ea typeface="Calibri"/>
                <a:cs typeface="Calibri"/>
                <a:sym typeface="Calibri"/>
              </a:rPr>
              <a:t>🟨 Procesamiento lingüístico</a:t>
            </a:r>
            <a:endParaRPr/>
          </a:p>
          <a:p>
            <a:pPr marL="0" marR="0" lvl="0" indent="0" algn="l" rtl="0">
              <a:spcBef>
                <a:spcPts val="0"/>
              </a:spcBef>
              <a:spcAft>
                <a:spcPts val="0"/>
              </a:spcAft>
              <a:buNone/>
            </a:pPr>
            <a:r>
              <a:rPr lang="es-ES" sz="2000" b="1">
                <a:solidFill>
                  <a:schemeClr val="dk1"/>
                </a:solidFill>
                <a:latin typeface="Calibri"/>
                <a:ea typeface="Calibri"/>
                <a:cs typeface="Calibri"/>
                <a:sym typeface="Calibri"/>
              </a:rPr>
              <a:t>LLM + Diccionario Signado</a:t>
            </a:r>
            <a:br>
              <a:rPr lang="es-ES" sz="2000">
                <a:solidFill>
                  <a:schemeClr val="dk1"/>
                </a:solidFill>
                <a:latin typeface="Calibri"/>
                <a:ea typeface="Calibri"/>
                <a:cs typeface="Calibri"/>
                <a:sym typeface="Calibri"/>
              </a:rPr>
            </a:br>
            <a:r>
              <a:rPr lang="es-ES" sz="2000">
                <a:solidFill>
                  <a:schemeClr val="dk1"/>
                </a:solidFill>
                <a:latin typeface="Calibri"/>
                <a:ea typeface="Calibri"/>
                <a:cs typeface="Calibri"/>
                <a:sym typeface="Calibri"/>
              </a:rPr>
              <a:t>Limpieza, normalización y selección de glosa.</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93" name="Google Shape;193;p11"/>
          <p:cNvSpPr/>
          <p:nvPr/>
        </p:nvSpPr>
        <p:spPr>
          <a:xfrm>
            <a:off x="5886009" y="2078986"/>
            <a:ext cx="5789243" cy="4491372"/>
          </a:xfrm>
          <a:prstGeom prst="roundRect">
            <a:avLst>
              <a:gd name="adj" fmla="val 10901"/>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ES" sz="2000" b="1">
                <a:solidFill>
                  <a:schemeClr val="dk1"/>
                </a:solidFill>
                <a:latin typeface="Calibri"/>
                <a:ea typeface="Calibri"/>
                <a:cs typeface="Calibri"/>
                <a:sym typeface="Calibri"/>
              </a:rPr>
              <a:t>🟧 Modelado y animación 3D</a:t>
            </a:r>
            <a:endParaRPr/>
          </a:p>
          <a:p>
            <a:pPr marL="0" marR="0" lvl="0" indent="0" algn="l" rtl="0">
              <a:spcBef>
                <a:spcPts val="0"/>
              </a:spcBef>
              <a:spcAft>
                <a:spcPts val="0"/>
              </a:spcAft>
              <a:buNone/>
            </a:pPr>
            <a:r>
              <a:rPr lang="es-ES" sz="2000" b="1">
                <a:solidFill>
                  <a:schemeClr val="dk1"/>
                </a:solidFill>
                <a:latin typeface="Calibri"/>
                <a:ea typeface="Calibri"/>
                <a:cs typeface="Calibri"/>
                <a:sym typeface="Calibri"/>
              </a:rPr>
              <a:t>Blender 3.x – FreeMoCap</a:t>
            </a:r>
            <a:br>
              <a:rPr lang="es-ES" sz="2000">
                <a:solidFill>
                  <a:schemeClr val="dk1"/>
                </a:solidFill>
                <a:latin typeface="Calibri"/>
                <a:ea typeface="Calibri"/>
                <a:cs typeface="Calibri"/>
                <a:sym typeface="Calibri"/>
              </a:rPr>
            </a:br>
            <a:r>
              <a:rPr lang="es-ES" sz="2000">
                <a:solidFill>
                  <a:schemeClr val="dk1"/>
                </a:solidFill>
                <a:latin typeface="Calibri"/>
                <a:ea typeface="Calibri"/>
                <a:cs typeface="Calibri"/>
                <a:sym typeface="Calibri"/>
              </a:rPr>
              <a:t>Creación, edición, rigging y exportación de animaciones GLB/FBX.</a:t>
            </a:r>
            <a:endParaRPr/>
          </a:p>
          <a:p>
            <a:pPr marL="0" marR="0" lvl="0" indent="0" algn="l" rtl="0">
              <a:spcBef>
                <a:spcPts val="0"/>
              </a:spcBef>
              <a:spcAft>
                <a:spcPts val="0"/>
              </a:spcAft>
              <a:buNone/>
            </a:pPr>
            <a:r>
              <a:rPr lang="es-ES" sz="2000" b="1">
                <a:solidFill>
                  <a:schemeClr val="dk1"/>
                </a:solidFill>
                <a:latin typeface="Calibri"/>
                <a:ea typeface="Calibri"/>
                <a:cs typeface="Calibri"/>
                <a:sym typeface="Calibri"/>
              </a:rPr>
              <a:t>🟪 Motor gráfico</a:t>
            </a:r>
            <a:endParaRPr/>
          </a:p>
          <a:p>
            <a:pPr marL="0" marR="0" lvl="0" indent="0" algn="l" rtl="0">
              <a:spcBef>
                <a:spcPts val="0"/>
              </a:spcBef>
              <a:spcAft>
                <a:spcPts val="0"/>
              </a:spcAft>
              <a:buNone/>
            </a:pPr>
            <a:r>
              <a:rPr lang="es-ES" sz="2000" b="1">
                <a:solidFill>
                  <a:schemeClr val="dk1"/>
                </a:solidFill>
                <a:latin typeface="Calibri"/>
                <a:ea typeface="Calibri"/>
                <a:cs typeface="Calibri"/>
                <a:sym typeface="Calibri"/>
              </a:rPr>
              <a:t>Godot Engine 4</a:t>
            </a:r>
            <a:br>
              <a:rPr lang="es-ES" sz="2000">
                <a:solidFill>
                  <a:schemeClr val="dk1"/>
                </a:solidFill>
                <a:latin typeface="Calibri"/>
                <a:ea typeface="Calibri"/>
                <a:cs typeface="Calibri"/>
                <a:sym typeface="Calibri"/>
              </a:rPr>
            </a:br>
            <a:r>
              <a:rPr lang="es-ES" sz="2000">
                <a:solidFill>
                  <a:schemeClr val="dk1"/>
                </a:solidFill>
                <a:latin typeface="Calibri"/>
                <a:ea typeface="Calibri"/>
                <a:cs typeface="Calibri"/>
                <a:sym typeface="Calibri"/>
              </a:rPr>
              <a:t>Reproducción del avatar 3D y animaciones del diccionario.</a:t>
            </a:r>
            <a:endParaRPr/>
          </a:p>
          <a:p>
            <a:pPr marL="0" marR="0" lvl="0" indent="0" algn="l" rtl="0">
              <a:spcBef>
                <a:spcPts val="0"/>
              </a:spcBef>
              <a:spcAft>
                <a:spcPts val="0"/>
              </a:spcAft>
              <a:buNone/>
            </a:pPr>
            <a:r>
              <a:rPr lang="es-ES" sz="2000" b="1">
                <a:solidFill>
                  <a:schemeClr val="dk1"/>
                </a:solidFill>
                <a:latin typeface="Calibri"/>
                <a:ea typeface="Calibri"/>
                <a:cs typeface="Calibri"/>
                <a:sym typeface="Calibri"/>
              </a:rPr>
              <a:t>🟥 Herramientas de apoyo</a:t>
            </a:r>
            <a:endParaRPr/>
          </a:p>
          <a:p>
            <a:pPr marL="0" marR="0" lvl="0" indent="0" algn="l" rtl="0">
              <a:spcBef>
                <a:spcPts val="0"/>
              </a:spcBef>
              <a:spcAft>
                <a:spcPts val="0"/>
              </a:spcAft>
              <a:buNone/>
            </a:pPr>
            <a:r>
              <a:rPr lang="es-ES" sz="2000" b="1">
                <a:solidFill>
                  <a:schemeClr val="dk1"/>
                </a:solidFill>
                <a:latin typeface="Calibri"/>
                <a:ea typeface="Calibri"/>
                <a:cs typeface="Calibri"/>
                <a:sym typeface="Calibri"/>
              </a:rPr>
              <a:t>OBS Studio – GitHub – Trello</a:t>
            </a:r>
            <a:br>
              <a:rPr lang="es-ES" sz="2000">
                <a:solidFill>
                  <a:schemeClr val="dk1"/>
                </a:solidFill>
                <a:latin typeface="Calibri"/>
                <a:ea typeface="Calibri"/>
                <a:cs typeface="Calibri"/>
                <a:sym typeface="Calibri"/>
              </a:rPr>
            </a:br>
            <a:r>
              <a:rPr lang="es-ES" sz="2000">
                <a:solidFill>
                  <a:schemeClr val="dk1"/>
                </a:solidFill>
                <a:latin typeface="Calibri"/>
                <a:ea typeface="Calibri"/>
                <a:cs typeface="Calibri"/>
                <a:sym typeface="Calibri"/>
              </a:rPr>
              <a:t>Grabación, control de versiones y gestión de sprints.</a:t>
            </a:r>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500"/>
                                        <p:tgtEl>
                                          <p:spTgt spid="19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3"/>
                                        </p:tgtEl>
                                        <p:attrNameLst>
                                          <p:attrName>style.visibility</p:attrName>
                                        </p:attrNameLst>
                                      </p:cBhvr>
                                      <p:to>
                                        <p:strVal val="visible"/>
                                      </p:to>
                                    </p:set>
                                    <p:animEffect transition="in" filter="fade">
                                      <p:cBhvr>
                                        <p:cTn id="12" dur="500"/>
                                        <p:tgtEl>
                                          <p:spTgt spid="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pic>
        <p:nvPicPr>
          <p:cNvPr id="198" name="Google Shape;198;p12"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99" name="Google Shape;199;p12"/>
          <p:cNvSpPr txBox="1"/>
          <p:nvPr/>
        </p:nvSpPr>
        <p:spPr>
          <a:xfrm>
            <a:off x="1" y="2707792"/>
            <a:ext cx="12191999"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4400">
                <a:solidFill>
                  <a:schemeClr val="dk1"/>
                </a:solidFill>
                <a:latin typeface="Calibri"/>
                <a:ea typeface="Calibri"/>
                <a:cs typeface="Calibri"/>
                <a:sym typeface="Calibri"/>
              </a:rPr>
              <a:t>DEMOSTRACIÓN DEL RESULTADO DEL PROYECTO</a:t>
            </a:r>
            <a:endParaRP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p13"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05" name="Google Shape;205;p13"/>
          <p:cNvSpPr txBox="1"/>
          <p:nvPr/>
        </p:nvSpPr>
        <p:spPr>
          <a:xfrm>
            <a:off x="-48444" y="600226"/>
            <a:ext cx="12191999"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4400">
                <a:solidFill>
                  <a:schemeClr val="dk1"/>
                </a:solidFill>
                <a:latin typeface="Calibri"/>
                <a:ea typeface="Calibri"/>
                <a:cs typeface="Calibri"/>
                <a:sym typeface="Calibri"/>
              </a:rPr>
              <a:t>Resultados obtenidos</a:t>
            </a:r>
            <a:endParaRPr/>
          </a:p>
        </p:txBody>
      </p:sp>
      <p:graphicFrame>
        <p:nvGraphicFramePr>
          <p:cNvPr id="206" name="Google Shape;206;p13"/>
          <p:cNvGraphicFramePr/>
          <p:nvPr/>
        </p:nvGraphicFramePr>
        <p:xfrm>
          <a:off x="732730" y="1385578"/>
          <a:ext cx="3000000" cy="3000000"/>
        </p:xfrm>
        <a:graphic>
          <a:graphicData uri="http://schemas.openxmlformats.org/drawingml/2006/table">
            <a:tbl>
              <a:tblPr>
                <a:noFill/>
                <a:tableStyleId>{CDD057A6-4835-4FE1-B430-0BC95098A7A6}</a:tableStyleId>
              </a:tblPr>
              <a:tblGrid>
                <a:gridCol w="4568950">
                  <a:extLst>
                    <a:ext uri="{9D8B030D-6E8A-4147-A177-3AD203B41FA5}">
                      <a16:colId xmlns:a16="http://schemas.microsoft.com/office/drawing/2014/main" val="20000"/>
                    </a:ext>
                  </a:extLst>
                </a:gridCol>
                <a:gridCol w="5822525">
                  <a:extLst>
                    <a:ext uri="{9D8B030D-6E8A-4147-A177-3AD203B41FA5}">
                      <a16:colId xmlns:a16="http://schemas.microsoft.com/office/drawing/2014/main" val="20001"/>
                    </a:ext>
                  </a:extLst>
                </a:gridCol>
              </a:tblGrid>
              <a:tr h="253975">
                <a:tc>
                  <a:txBody>
                    <a:bodyPr/>
                    <a:lstStyle/>
                    <a:p>
                      <a:pPr marL="0" marR="0" lvl="0" indent="0" algn="ctr" rtl="0">
                        <a:spcBef>
                          <a:spcPts val="0"/>
                        </a:spcBef>
                        <a:spcAft>
                          <a:spcPts val="0"/>
                        </a:spcAft>
                        <a:buNone/>
                      </a:pPr>
                      <a:r>
                        <a:rPr lang="es-ES" sz="1800" u="none" strike="noStrike" cap="none"/>
                        <a:t>Resultado</a:t>
                      </a:r>
                      <a:endParaRPr sz="1800" b="1" i="0" u="none" strike="noStrike" cap="none">
                        <a:solidFill>
                          <a:srgbClr val="FFFFFF"/>
                        </a:solidFill>
                        <a:latin typeface="Arial"/>
                        <a:ea typeface="Arial"/>
                        <a:cs typeface="Arial"/>
                        <a:sym typeface="Arial"/>
                      </a:endParaRPr>
                    </a:p>
                  </a:txBody>
                  <a:tcPr marL="5450" marR="5450" marT="5450" marB="0" anchor="ctr">
                    <a:solidFill>
                      <a:srgbClr val="8DA9DB"/>
                    </a:solidFill>
                  </a:tcPr>
                </a:tc>
                <a:tc>
                  <a:txBody>
                    <a:bodyPr/>
                    <a:lstStyle/>
                    <a:p>
                      <a:pPr marL="0" marR="0" lvl="0" indent="0" algn="ctr" rtl="0">
                        <a:spcBef>
                          <a:spcPts val="0"/>
                        </a:spcBef>
                        <a:spcAft>
                          <a:spcPts val="0"/>
                        </a:spcAft>
                        <a:buNone/>
                      </a:pPr>
                      <a:r>
                        <a:rPr lang="es-ES" sz="1800" u="none" strike="noStrike" cap="none"/>
                        <a:t>Descripción</a:t>
                      </a:r>
                      <a:endParaRPr sz="1800" b="1" i="0" u="none" strike="noStrike" cap="none">
                        <a:solidFill>
                          <a:srgbClr val="FFFFFF"/>
                        </a:solidFill>
                        <a:latin typeface="Arial"/>
                        <a:ea typeface="Arial"/>
                        <a:cs typeface="Arial"/>
                        <a:sym typeface="Arial"/>
                      </a:endParaRPr>
                    </a:p>
                  </a:txBody>
                  <a:tcPr marL="5450" marR="5450" marT="5450" marB="0" anchor="ctr">
                    <a:solidFill>
                      <a:srgbClr val="8DA9DB"/>
                    </a:solidFill>
                  </a:tcPr>
                </a:tc>
                <a:extLst>
                  <a:ext uri="{0D108BD9-81ED-4DB2-BD59-A6C34878D82A}">
                    <a16:rowId xmlns:a16="http://schemas.microsoft.com/office/drawing/2014/main" val="10000"/>
                  </a:ext>
                </a:extLst>
              </a:tr>
              <a:tr h="507075">
                <a:tc>
                  <a:txBody>
                    <a:bodyPr/>
                    <a:lstStyle/>
                    <a:p>
                      <a:pPr marL="0" marR="0" lvl="0" indent="0" algn="l" rtl="0">
                        <a:spcBef>
                          <a:spcPts val="0"/>
                        </a:spcBef>
                        <a:spcAft>
                          <a:spcPts val="0"/>
                        </a:spcAft>
                        <a:buNone/>
                      </a:pPr>
                      <a:r>
                        <a:rPr lang="es-ES" sz="1600" u="none" strike="noStrike" cap="none"/>
                        <a:t>1. Captura de audio operativa</a:t>
                      </a:r>
                      <a:endParaRPr sz="1600" b="1" i="0" u="none" strike="noStrike" cap="none">
                        <a:solidFill>
                          <a:srgbClr val="000000"/>
                        </a:solidFill>
                        <a:latin typeface="Arial"/>
                        <a:ea typeface="Arial"/>
                        <a:cs typeface="Arial"/>
                        <a:sym typeface="Arial"/>
                      </a:endParaRPr>
                    </a:p>
                  </a:txBody>
                  <a:tcPr marL="5450" marR="5450" marT="5450" marB="0" anchor="ctr"/>
                </a:tc>
                <a:tc>
                  <a:txBody>
                    <a:bodyPr/>
                    <a:lstStyle/>
                    <a:p>
                      <a:pPr marL="0" marR="0" lvl="0" indent="0" algn="l" rtl="0">
                        <a:spcBef>
                          <a:spcPts val="0"/>
                        </a:spcBef>
                        <a:spcAft>
                          <a:spcPts val="0"/>
                        </a:spcAft>
                        <a:buNone/>
                      </a:pPr>
                      <a:r>
                        <a:rPr lang="es-ES" sz="1600" u="none" strike="noStrike" cap="none"/>
                        <a:t>El sistema captura audio desde el navegador y lo procesa correctamente.</a:t>
                      </a:r>
                      <a:endParaRPr sz="1600" b="0" i="0" u="none" strike="noStrike" cap="none">
                        <a:solidFill>
                          <a:srgbClr val="000000"/>
                        </a:solidFill>
                        <a:latin typeface="Arial"/>
                        <a:ea typeface="Arial"/>
                        <a:cs typeface="Arial"/>
                        <a:sym typeface="Arial"/>
                      </a:endParaRPr>
                    </a:p>
                  </a:txBody>
                  <a:tcPr marL="5450" marR="5450" marT="5450" marB="0" anchor="ctr"/>
                </a:tc>
                <a:extLst>
                  <a:ext uri="{0D108BD9-81ED-4DB2-BD59-A6C34878D82A}">
                    <a16:rowId xmlns:a16="http://schemas.microsoft.com/office/drawing/2014/main" val="10001"/>
                  </a:ext>
                </a:extLst>
              </a:tr>
              <a:tr h="507075">
                <a:tc>
                  <a:txBody>
                    <a:bodyPr/>
                    <a:lstStyle/>
                    <a:p>
                      <a:pPr marL="0" marR="0" lvl="0" indent="0" algn="l" rtl="0">
                        <a:spcBef>
                          <a:spcPts val="0"/>
                        </a:spcBef>
                        <a:spcAft>
                          <a:spcPts val="0"/>
                        </a:spcAft>
                        <a:buNone/>
                      </a:pPr>
                      <a:r>
                        <a:rPr lang="es-ES" sz="1600" u="none" strike="noStrike" cap="none"/>
                        <a:t>2. Transcripción con Whisper funcionando</a:t>
                      </a:r>
                      <a:endParaRPr sz="1600" b="1" i="0" u="none" strike="noStrike" cap="none">
                        <a:solidFill>
                          <a:srgbClr val="000000"/>
                        </a:solidFill>
                        <a:latin typeface="Arial"/>
                        <a:ea typeface="Arial"/>
                        <a:cs typeface="Arial"/>
                        <a:sym typeface="Arial"/>
                      </a:endParaRPr>
                    </a:p>
                  </a:txBody>
                  <a:tcPr marL="5450" marR="5450" marT="5450" marB="0" anchor="ctr"/>
                </a:tc>
                <a:tc>
                  <a:txBody>
                    <a:bodyPr/>
                    <a:lstStyle/>
                    <a:p>
                      <a:pPr marL="0" marR="0" lvl="0" indent="0" algn="l" rtl="0">
                        <a:spcBef>
                          <a:spcPts val="0"/>
                        </a:spcBef>
                        <a:spcAft>
                          <a:spcPts val="0"/>
                        </a:spcAft>
                        <a:buNone/>
                      </a:pPr>
                      <a:r>
                        <a:rPr lang="es-ES" sz="1600" u="none" strike="noStrike" cap="none"/>
                        <a:t>Whisper/Faster-Whisper genera transcripciones limpias y estables incluso en entorno con ruido moderado.</a:t>
                      </a:r>
                      <a:endParaRPr sz="1600" b="0" i="0" u="none" strike="noStrike" cap="none">
                        <a:solidFill>
                          <a:srgbClr val="000000"/>
                        </a:solidFill>
                        <a:latin typeface="Arial"/>
                        <a:ea typeface="Arial"/>
                        <a:cs typeface="Arial"/>
                        <a:sym typeface="Arial"/>
                      </a:endParaRPr>
                    </a:p>
                  </a:txBody>
                  <a:tcPr marL="5450" marR="5450" marT="5450" marB="0" anchor="ctr"/>
                </a:tc>
                <a:extLst>
                  <a:ext uri="{0D108BD9-81ED-4DB2-BD59-A6C34878D82A}">
                    <a16:rowId xmlns:a16="http://schemas.microsoft.com/office/drawing/2014/main" val="10002"/>
                  </a:ext>
                </a:extLst>
              </a:tr>
              <a:tr h="507075">
                <a:tc>
                  <a:txBody>
                    <a:bodyPr/>
                    <a:lstStyle/>
                    <a:p>
                      <a:pPr marL="0" marR="0" lvl="0" indent="0" algn="l" rtl="0">
                        <a:spcBef>
                          <a:spcPts val="0"/>
                        </a:spcBef>
                        <a:spcAft>
                          <a:spcPts val="0"/>
                        </a:spcAft>
                        <a:buNone/>
                      </a:pPr>
                      <a:r>
                        <a:rPr lang="es-ES" sz="1600" u="none" strike="noStrike" cap="none"/>
                        <a:t>3. Pipeline completo implementado</a:t>
                      </a:r>
                      <a:endParaRPr sz="1600" b="1" i="0" u="none" strike="noStrike" cap="none">
                        <a:solidFill>
                          <a:srgbClr val="000000"/>
                        </a:solidFill>
                        <a:latin typeface="Arial"/>
                        <a:ea typeface="Arial"/>
                        <a:cs typeface="Arial"/>
                        <a:sym typeface="Arial"/>
                      </a:endParaRPr>
                    </a:p>
                  </a:txBody>
                  <a:tcPr marL="5450" marR="5450" marT="5450" marB="0" anchor="ctr"/>
                </a:tc>
                <a:tc>
                  <a:txBody>
                    <a:bodyPr/>
                    <a:lstStyle/>
                    <a:p>
                      <a:pPr marL="0" marR="0" lvl="0" indent="0" algn="l" rtl="0">
                        <a:spcBef>
                          <a:spcPts val="0"/>
                        </a:spcBef>
                        <a:spcAft>
                          <a:spcPts val="0"/>
                        </a:spcAft>
                        <a:buNone/>
                      </a:pPr>
                      <a:r>
                        <a:rPr lang="es-ES" sz="1600" u="none" strike="noStrike" cap="none"/>
                        <a:t>Flujo funcional desde voz → texto → glosa → animación sin intervención manual.</a:t>
                      </a:r>
                      <a:endParaRPr sz="1600" b="0" i="0" u="none" strike="noStrike" cap="none">
                        <a:solidFill>
                          <a:srgbClr val="000000"/>
                        </a:solidFill>
                        <a:latin typeface="Arial"/>
                        <a:ea typeface="Arial"/>
                        <a:cs typeface="Arial"/>
                        <a:sym typeface="Arial"/>
                      </a:endParaRPr>
                    </a:p>
                  </a:txBody>
                  <a:tcPr marL="5450" marR="5450" marT="5450" marB="0" anchor="ctr"/>
                </a:tc>
                <a:extLst>
                  <a:ext uri="{0D108BD9-81ED-4DB2-BD59-A6C34878D82A}">
                    <a16:rowId xmlns:a16="http://schemas.microsoft.com/office/drawing/2014/main" val="10003"/>
                  </a:ext>
                </a:extLst>
              </a:tr>
              <a:tr h="507075">
                <a:tc>
                  <a:txBody>
                    <a:bodyPr/>
                    <a:lstStyle/>
                    <a:p>
                      <a:pPr marL="0" marR="0" lvl="0" indent="0" algn="l" rtl="0">
                        <a:spcBef>
                          <a:spcPts val="0"/>
                        </a:spcBef>
                        <a:spcAft>
                          <a:spcPts val="0"/>
                        </a:spcAft>
                        <a:buNone/>
                      </a:pPr>
                      <a:r>
                        <a:rPr lang="es-ES" sz="1600" u="none" strike="noStrike" cap="none"/>
                        <a:t>4. Normalización y selección de glosa</a:t>
                      </a:r>
                      <a:endParaRPr sz="1600" b="1" i="0" u="none" strike="noStrike" cap="none">
                        <a:solidFill>
                          <a:srgbClr val="000000"/>
                        </a:solidFill>
                        <a:latin typeface="Arial"/>
                        <a:ea typeface="Arial"/>
                        <a:cs typeface="Arial"/>
                        <a:sym typeface="Arial"/>
                      </a:endParaRPr>
                    </a:p>
                  </a:txBody>
                  <a:tcPr marL="5450" marR="5450" marT="5450" marB="0" anchor="ctr"/>
                </a:tc>
                <a:tc>
                  <a:txBody>
                    <a:bodyPr/>
                    <a:lstStyle/>
                    <a:p>
                      <a:pPr marL="0" marR="0" lvl="0" indent="0" algn="l" rtl="0">
                        <a:spcBef>
                          <a:spcPts val="0"/>
                        </a:spcBef>
                        <a:spcAft>
                          <a:spcPts val="0"/>
                        </a:spcAft>
                        <a:buNone/>
                      </a:pPr>
                      <a:r>
                        <a:rPr lang="es-ES" sz="1600" u="none" strike="noStrike" cap="none"/>
                        <a:t>Se implementó limpieza del texto y asignación de glosa en español signado para el MVP.</a:t>
                      </a:r>
                      <a:endParaRPr sz="1600" b="0" i="0" u="none" strike="noStrike" cap="none">
                        <a:solidFill>
                          <a:srgbClr val="000000"/>
                        </a:solidFill>
                        <a:latin typeface="Arial"/>
                        <a:ea typeface="Arial"/>
                        <a:cs typeface="Arial"/>
                        <a:sym typeface="Arial"/>
                      </a:endParaRPr>
                    </a:p>
                  </a:txBody>
                  <a:tcPr marL="5450" marR="5450" marT="5450" marB="0" anchor="ctr"/>
                </a:tc>
                <a:extLst>
                  <a:ext uri="{0D108BD9-81ED-4DB2-BD59-A6C34878D82A}">
                    <a16:rowId xmlns:a16="http://schemas.microsoft.com/office/drawing/2014/main" val="10004"/>
                  </a:ext>
                </a:extLst>
              </a:tr>
              <a:tr h="507075">
                <a:tc>
                  <a:txBody>
                    <a:bodyPr/>
                    <a:lstStyle/>
                    <a:p>
                      <a:pPr marL="0" marR="0" lvl="0" indent="0" algn="l" rtl="0">
                        <a:spcBef>
                          <a:spcPts val="0"/>
                        </a:spcBef>
                        <a:spcAft>
                          <a:spcPts val="0"/>
                        </a:spcAft>
                        <a:buNone/>
                      </a:pPr>
                      <a:r>
                        <a:rPr lang="es-ES" sz="1600" u="none" strike="noStrike" cap="none"/>
                        <a:t>5. Diccionario básico en Español Signado</a:t>
                      </a:r>
                      <a:endParaRPr sz="1600" b="1" i="0" u="none" strike="noStrike" cap="none">
                        <a:solidFill>
                          <a:srgbClr val="000000"/>
                        </a:solidFill>
                        <a:latin typeface="Arial"/>
                        <a:ea typeface="Arial"/>
                        <a:cs typeface="Arial"/>
                        <a:sym typeface="Arial"/>
                      </a:endParaRPr>
                    </a:p>
                  </a:txBody>
                  <a:tcPr marL="5450" marR="5450" marT="5450" marB="0" anchor="ctr"/>
                </a:tc>
                <a:tc>
                  <a:txBody>
                    <a:bodyPr/>
                    <a:lstStyle/>
                    <a:p>
                      <a:pPr marL="0" marR="0" lvl="0" indent="0" algn="l" rtl="0">
                        <a:spcBef>
                          <a:spcPts val="0"/>
                        </a:spcBef>
                        <a:spcAft>
                          <a:spcPts val="0"/>
                        </a:spcAft>
                        <a:buNone/>
                      </a:pPr>
                      <a:r>
                        <a:rPr lang="es-ES" sz="1600" u="none" strike="noStrike" cap="none"/>
                        <a:t>Conjunto reducido de glosas creadas por el equipo, cada una con su animación asociada.</a:t>
                      </a:r>
                      <a:endParaRPr sz="1600" b="0" i="0" u="none" strike="noStrike" cap="none">
                        <a:solidFill>
                          <a:srgbClr val="000000"/>
                        </a:solidFill>
                        <a:latin typeface="Arial"/>
                        <a:ea typeface="Arial"/>
                        <a:cs typeface="Arial"/>
                        <a:sym typeface="Arial"/>
                      </a:endParaRPr>
                    </a:p>
                  </a:txBody>
                  <a:tcPr marL="5450" marR="5450" marT="5450" marB="0" anchor="ctr"/>
                </a:tc>
                <a:extLst>
                  <a:ext uri="{0D108BD9-81ED-4DB2-BD59-A6C34878D82A}">
                    <a16:rowId xmlns:a16="http://schemas.microsoft.com/office/drawing/2014/main" val="10005"/>
                  </a:ext>
                </a:extLst>
              </a:tr>
              <a:tr h="507075">
                <a:tc>
                  <a:txBody>
                    <a:bodyPr/>
                    <a:lstStyle/>
                    <a:p>
                      <a:pPr marL="0" marR="0" lvl="0" indent="0" algn="l" rtl="0">
                        <a:spcBef>
                          <a:spcPts val="0"/>
                        </a:spcBef>
                        <a:spcAft>
                          <a:spcPts val="0"/>
                        </a:spcAft>
                        <a:buNone/>
                      </a:pPr>
                      <a:r>
                        <a:rPr lang="es-ES" sz="1600" u="none" strike="noStrike" cap="none"/>
                        <a:t>6. Animaciones 3D creadas y exportadas</a:t>
                      </a:r>
                      <a:endParaRPr sz="1600" b="1" i="0" u="none" strike="noStrike" cap="none">
                        <a:solidFill>
                          <a:srgbClr val="000000"/>
                        </a:solidFill>
                        <a:latin typeface="Arial"/>
                        <a:ea typeface="Arial"/>
                        <a:cs typeface="Arial"/>
                        <a:sym typeface="Arial"/>
                      </a:endParaRPr>
                    </a:p>
                  </a:txBody>
                  <a:tcPr marL="5450" marR="5450" marT="5450" marB="0" anchor="ctr"/>
                </a:tc>
                <a:tc>
                  <a:txBody>
                    <a:bodyPr/>
                    <a:lstStyle/>
                    <a:p>
                      <a:pPr marL="0" marR="0" lvl="0" indent="0" algn="l" rtl="0">
                        <a:spcBef>
                          <a:spcPts val="0"/>
                        </a:spcBef>
                        <a:spcAft>
                          <a:spcPts val="0"/>
                        </a:spcAft>
                        <a:buNone/>
                      </a:pPr>
                      <a:r>
                        <a:rPr lang="es-ES" sz="1600" u="none" strike="noStrike" cap="none"/>
                        <a:t>Animaciones producidas con FreeMoCap y editadas en Blender; exportadas a GLB/FBX.</a:t>
                      </a:r>
                      <a:endParaRPr sz="1600" b="0" i="0" u="none" strike="noStrike" cap="none">
                        <a:solidFill>
                          <a:srgbClr val="000000"/>
                        </a:solidFill>
                        <a:latin typeface="Arial"/>
                        <a:ea typeface="Arial"/>
                        <a:cs typeface="Arial"/>
                        <a:sym typeface="Arial"/>
                      </a:endParaRPr>
                    </a:p>
                  </a:txBody>
                  <a:tcPr marL="5450" marR="5450" marT="5450" marB="0" anchor="ctr"/>
                </a:tc>
                <a:extLst>
                  <a:ext uri="{0D108BD9-81ED-4DB2-BD59-A6C34878D82A}">
                    <a16:rowId xmlns:a16="http://schemas.microsoft.com/office/drawing/2014/main" val="10006"/>
                  </a:ext>
                </a:extLst>
              </a:tr>
              <a:tr h="253975">
                <a:tc>
                  <a:txBody>
                    <a:bodyPr/>
                    <a:lstStyle/>
                    <a:p>
                      <a:pPr marL="0" marR="0" lvl="0" indent="0" algn="l" rtl="0">
                        <a:spcBef>
                          <a:spcPts val="0"/>
                        </a:spcBef>
                        <a:spcAft>
                          <a:spcPts val="0"/>
                        </a:spcAft>
                        <a:buNone/>
                      </a:pPr>
                      <a:r>
                        <a:rPr lang="es-ES" sz="1600" u="none" strike="noStrike" cap="none"/>
                        <a:t>7. Avatar 3D funcional en Godot Engine</a:t>
                      </a:r>
                      <a:endParaRPr sz="1600" b="1" i="0" u="none" strike="noStrike" cap="none">
                        <a:solidFill>
                          <a:srgbClr val="000000"/>
                        </a:solidFill>
                        <a:latin typeface="Arial"/>
                        <a:ea typeface="Arial"/>
                        <a:cs typeface="Arial"/>
                        <a:sym typeface="Arial"/>
                      </a:endParaRPr>
                    </a:p>
                  </a:txBody>
                  <a:tcPr marL="5450" marR="5450" marT="5450" marB="0" anchor="ctr"/>
                </a:tc>
                <a:tc>
                  <a:txBody>
                    <a:bodyPr/>
                    <a:lstStyle/>
                    <a:p>
                      <a:pPr marL="0" marR="0" lvl="0" indent="0" algn="l" rtl="0">
                        <a:spcBef>
                          <a:spcPts val="0"/>
                        </a:spcBef>
                        <a:spcAft>
                          <a:spcPts val="0"/>
                        </a:spcAft>
                        <a:buNone/>
                      </a:pPr>
                      <a:r>
                        <a:rPr lang="es-ES" sz="1600" u="none" strike="noStrike" cap="none"/>
                        <a:t>Motor Godot reproduce correctamente las animaciones seleccionadas.</a:t>
                      </a:r>
                      <a:endParaRPr sz="1600" b="0" i="0" u="none" strike="noStrike" cap="none">
                        <a:solidFill>
                          <a:srgbClr val="000000"/>
                        </a:solidFill>
                        <a:latin typeface="Arial"/>
                        <a:ea typeface="Arial"/>
                        <a:cs typeface="Arial"/>
                        <a:sym typeface="Arial"/>
                      </a:endParaRPr>
                    </a:p>
                  </a:txBody>
                  <a:tcPr marL="5450" marR="5450" marT="5450" marB="0" anchor="ctr"/>
                </a:tc>
                <a:extLst>
                  <a:ext uri="{0D108BD9-81ED-4DB2-BD59-A6C34878D82A}">
                    <a16:rowId xmlns:a16="http://schemas.microsoft.com/office/drawing/2014/main" val="10007"/>
                  </a:ext>
                </a:extLst>
              </a:tr>
              <a:tr h="253975">
                <a:tc>
                  <a:txBody>
                    <a:bodyPr/>
                    <a:lstStyle/>
                    <a:p>
                      <a:pPr marL="0" marR="0" lvl="0" indent="0" algn="l" rtl="0">
                        <a:spcBef>
                          <a:spcPts val="0"/>
                        </a:spcBef>
                        <a:spcAft>
                          <a:spcPts val="0"/>
                        </a:spcAft>
                        <a:buNone/>
                      </a:pPr>
                      <a:r>
                        <a:rPr lang="es-ES" sz="1600" u="none" strike="noStrike" cap="none"/>
                        <a:t>8. Manejo de errores implementado</a:t>
                      </a:r>
                      <a:endParaRPr sz="1600" b="1" i="0" u="none" strike="noStrike" cap="none">
                        <a:solidFill>
                          <a:srgbClr val="000000"/>
                        </a:solidFill>
                        <a:latin typeface="Arial"/>
                        <a:ea typeface="Arial"/>
                        <a:cs typeface="Arial"/>
                        <a:sym typeface="Arial"/>
                      </a:endParaRPr>
                    </a:p>
                  </a:txBody>
                  <a:tcPr marL="5450" marR="5450" marT="5450" marB="0" anchor="ctr"/>
                </a:tc>
                <a:tc>
                  <a:txBody>
                    <a:bodyPr/>
                    <a:lstStyle/>
                    <a:p>
                      <a:pPr marL="0" marR="0" lvl="0" indent="0" algn="l" rtl="0">
                        <a:spcBef>
                          <a:spcPts val="0"/>
                        </a:spcBef>
                        <a:spcAft>
                          <a:spcPts val="0"/>
                        </a:spcAft>
                        <a:buNone/>
                      </a:pPr>
                      <a:r>
                        <a:rPr lang="es-ES" sz="1600" u="none" strike="noStrike" cap="none"/>
                        <a:t>Si no existe glosa, el sistema muestra animación de error (fallback).</a:t>
                      </a:r>
                      <a:endParaRPr sz="1600" b="0" i="0" u="none" strike="noStrike" cap="none">
                        <a:solidFill>
                          <a:srgbClr val="000000"/>
                        </a:solidFill>
                        <a:latin typeface="Arial"/>
                        <a:ea typeface="Arial"/>
                        <a:cs typeface="Arial"/>
                        <a:sym typeface="Arial"/>
                      </a:endParaRPr>
                    </a:p>
                  </a:txBody>
                  <a:tcPr marL="5450" marR="5450" marT="5450" marB="0" anchor="ctr"/>
                </a:tc>
                <a:extLst>
                  <a:ext uri="{0D108BD9-81ED-4DB2-BD59-A6C34878D82A}">
                    <a16:rowId xmlns:a16="http://schemas.microsoft.com/office/drawing/2014/main" val="10008"/>
                  </a:ext>
                </a:extLst>
              </a:tr>
              <a:tr h="507075">
                <a:tc>
                  <a:txBody>
                    <a:bodyPr/>
                    <a:lstStyle/>
                    <a:p>
                      <a:pPr marL="0" marR="0" lvl="0" indent="0" algn="l" rtl="0">
                        <a:spcBef>
                          <a:spcPts val="0"/>
                        </a:spcBef>
                        <a:spcAft>
                          <a:spcPts val="0"/>
                        </a:spcAft>
                        <a:buNone/>
                      </a:pPr>
                      <a:r>
                        <a:rPr lang="es-ES" sz="1600" u="none" strike="noStrike" cap="none"/>
                        <a:t>9. Pruebas internas completadas</a:t>
                      </a:r>
                      <a:endParaRPr sz="1600" b="1" i="0" u="none" strike="noStrike" cap="none">
                        <a:solidFill>
                          <a:srgbClr val="000000"/>
                        </a:solidFill>
                        <a:latin typeface="Arial"/>
                        <a:ea typeface="Arial"/>
                        <a:cs typeface="Arial"/>
                        <a:sym typeface="Arial"/>
                      </a:endParaRPr>
                    </a:p>
                  </a:txBody>
                  <a:tcPr marL="5450" marR="5450" marT="5450" marB="0" anchor="ctr"/>
                </a:tc>
                <a:tc>
                  <a:txBody>
                    <a:bodyPr/>
                    <a:lstStyle/>
                    <a:p>
                      <a:pPr marL="0" marR="0" lvl="0" indent="0" algn="l" rtl="0">
                        <a:spcBef>
                          <a:spcPts val="0"/>
                        </a:spcBef>
                        <a:spcAft>
                          <a:spcPts val="0"/>
                        </a:spcAft>
                        <a:buNone/>
                      </a:pPr>
                      <a:r>
                        <a:rPr lang="es-ES" sz="1600" u="none" strike="noStrike" cap="none"/>
                        <a:t>Pruebas de captura, transcripción, carga de animaciones, y reproducción exitosas.</a:t>
                      </a:r>
                      <a:endParaRPr sz="1600" b="0" i="0" u="none" strike="noStrike" cap="none">
                        <a:solidFill>
                          <a:srgbClr val="000000"/>
                        </a:solidFill>
                        <a:latin typeface="Arial"/>
                        <a:ea typeface="Arial"/>
                        <a:cs typeface="Arial"/>
                        <a:sym typeface="Arial"/>
                      </a:endParaRPr>
                    </a:p>
                  </a:txBody>
                  <a:tcPr marL="5450" marR="5450" marT="5450" marB="0" anchor="ctr"/>
                </a:tc>
                <a:extLst>
                  <a:ext uri="{0D108BD9-81ED-4DB2-BD59-A6C34878D82A}">
                    <a16:rowId xmlns:a16="http://schemas.microsoft.com/office/drawing/2014/main" val="10009"/>
                  </a:ext>
                </a:extLst>
              </a:tr>
              <a:tr h="253975">
                <a:tc>
                  <a:txBody>
                    <a:bodyPr/>
                    <a:lstStyle/>
                    <a:p>
                      <a:pPr marL="0" marR="0" lvl="0" indent="0" algn="l" rtl="0">
                        <a:spcBef>
                          <a:spcPts val="0"/>
                        </a:spcBef>
                        <a:spcAft>
                          <a:spcPts val="0"/>
                        </a:spcAft>
                        <a:buNone/>
                      </a:pPr>
                      <a:r>
                        <a:rPr lang="es-ES" sz="1600" u="none" strike="noStrike" cap="none"/>
                        <a:t>10. Demostración del MVP grabada</a:t>
                      </a:r>
                      <a:endParaRPr sz="1600" b="1" i="0" u="none" strike="noStrike" cap="none">
                        <a:solidFill>
                          <a:srgbClr val="000000"/>
                        </a:solidFill>
                        <a:latin typeface="Arial"/>
                        <a:ea typeface="Arial"/>
                        <a:cs typeface="Arial"/>
                        <a:sym typeface="Arial"/>
                      </a:endParaRPr>
                    </a:p>
                  </a:txBody>
                  <a:tcPr marL="5450" marR="5450" marT="5450" marB="0" anchor="ctr"/>
                </a:tc>
                <a:tc>
                  <a:txBody>
                    <a:bodyPr/>
                    <a:lstStyle/>
                    <a:p>
                      <a:pPr marL="0" marR="0" lvl="0" indent="0" algn="l" rtl="0">
                        <a:spcBef>
                          <a:spcPts val="0"/>
                        </a:spcBef>
                        <a:spcAft>
                          <a:spcPts val="0"/>
                        </a:spcAft>
                        <a:buNone/>
                      </a:pPr>
                      <a:r>
                        <a:rPr lang="es-ES" sz="1600" u="none" strike="noStrike" cap="none"/>
                        <a:t>Video demostrativo del sistema funcionando, grabado con OBS Studio.</a:t>
                      </a:r>
                      <a:endParaRPr sz="1600" b="0" i="0" u="none" strike="noStrike" cap="none">
                        <a:solidFill>
                          <a:srgbClr val="000000"/>
                        </a:solidFill>
                        <a:latin typeface="Arial"/>
                        <a:ea typeface="Arial"/>
                        <a:cs typeface="Arial"/>
                        <a:sym typeface="Arial"/>
                      </a:endParaRPr>
                    </a:p>
                  </a:txBody>
                  <a:tcPr marL="5450" marR="5450" marT="5450" marB="0" anchor="ctr"/>
                </a:tc>
                <a:extLst>
                  <a:ext uri="{0D108BD9-81ED-4DB2-BD59-A6C34878D82A}">
                    <a16:rowId xmlns:a16="http://schemas.microsoft.com/office/drawing/2014/main" val="10010"/>
                  </a:ext>
                </a:extLst>
              </a:tr>
              <a:tr h="507075">
                <a:tc>
                  <a:txBody>
                    <a:bodyPr/>
                    <a:lstStyle/>
                    <a:p>
                      <a:pPr marL="0" marR="0" lvl="0" indent="0" algn="l" rtl="0">
                        <a:spcBef>
                          <a:spcPts val="0"/>
                        </a:spcBef>
                        <a:spcAft>
                          <a:spcPts val="0"/>
                        </a:spcAft>
                        <a:buNone/>
                      </a:pPr>
                      <a:r>
                        <a:rPr lang="es-ES" sz="1600" u="none" strike="noStrike" cap="none"/>
                        <a:t>11. Documentación completa generada</a:t>
                      </a:r>
                      <a:endParaRPr sz="1600" b="1" i="0" u="none" strike="noStrike" cap="none">
                        <a:solidFill>
                          <a:srgbClr val="000000"/>
                        </a:solidFill>
                        <a:latin typeface="Arial"/>
                        <a:ea typeface="Arial"/>
                        <a:cs typeface="Arial"/>
                        <a:sym typeface="Arial"/>
                      </a:endParaRPr>
                    </a:p>
                  </a:txBody>
                  <a:tcPr marL="5450" marR="5450" marT="5450" marB="0" anchor="ctr"/>
                </a:tc>
                <a:tc>
                  <a:txBody>
                    <a:bodyPr/>
                    <a:lstStyle/>
                    <a:p>
                      <a:pPr marL="0" marR="0" lvl="0" indent="0" algn="l" rtl="0">
                        <a:spcBef>
                          <a:spcPts val="0"/>
                        </a:spcBef>
                        <a:spcAft>
                          <a:spcPts val="0"/>
                        </a:spcAft>
                        <a:buNone/>
                      </a:pPr>
                      <a:r>
                        <a:rPr lang="es-ES" sz="1600" u="none" strike="noStrike" cap="none"/>
                        <a:t>ERS, DAS, CU, trazabilidad, plan de pruebas, bitácoras y sprints consolidados.</a:t>
                      </a:r>
                      <a:endParaRPr sz="1600" b="0" i="0" u="none" strike="noStrike" cap="none">
                        <a:solidFill>
                          <a:srgbClr val="000000"/>
                        </a:solidFill>
                        <a:latin typeface="Arial"/>
                        <a:ea typeface="Arial"/>
                        <a:cs typeface="Arial"/>
                        <a:sym typeface="Arial"/>
                      </a:endParaRPr>
                    </a:p>
                  </a:txBody>
                  <a:tcPr marL="5450" marR="5450" marT="5450" marB="0" anchor="ctr"/>
                </a:tc>
                <a:extLst>
                  <a:ext uri="{0D108BD9-81ED-4DB2-BD59-A6C34878D82A}">
                    <a16:rowId xmlns:a16="http://schemas.microsoft.com/office/drawing/2014/main" val="10011"/>
                  </a:ext>
                </a:extLst>
              </a:tr>
            </a:tbl>
          </a:graphicData>
        </a:graphic>
      </p:graphicFrame>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11" name="Google Shape;211;p14"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12" name="Google Shape;212;p14"/>
          <p:cNvSpPr txBox="1"/>
          <p:nvPr/>
        </p:nvSpPr>
        <p:spPr>
          <a:xfrm>
            <a:off x="1" y="1360773"/>
            <a:ext cx="12191999"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4400">
                <a:solidFill>
                  <a:schemeClr val="dk1"/>
                </a:solidFill>
                <a:latin typeface="Calibri"/>
                <a:ea typeface="Calibri"/>
                <a:cs typeface="Calibri"/>
                <a:sym typeface="Calibri"/>
              </a:rPr>
              <a:t>Obstáculos presentados durante el desarrollo</a:t>
            </a:r>
            <a:endParaRPr/>
          </a:p>
        </p:txBody>
      </p:sp>
      <p:graphicFrame>
        <p:nvGraphicFramePr>
          <p:cNvPr id="213" name="Google Shape;213;p14"/>
          <p:cNvGraphicFramePr/>
          <p:nvPr/>
        </p:nvGraphicFramePr>
        <p:xfrm>
          <a:off x="2749676" y="2274541"/>
          <a:ext cx="3000000" cy="3000000"/>
        </p:xfrm>
        <a:graphic>
          <a:graphicData uri="http://schemas.openxmlformats.org/drawingml/2006/table">
            <a:tbl>
              <a:tblPr>
                <a:noFill/>
                <a:tableStyleId>{CDD057A6-4835-4FE1-B430-0BC95098A7A6}</a:tableStyleId>
              </a:tblPr>
              <a:tblGrid>
                <a:gridCol w="1663700">
                  <a:extLst>
                    <a:ext uri="{9D8B030D-6E8A-4147-A177-3AD203B41FA5}">
                      <a16:colId xmlns:a16="http://schemas.microsoft.com/office/drawing/2014/main" val="20000"/>
                    </a:ext>
                  </a:extLst>
                </a:gridCol>
                <a:gridCol w="4762500">
                  <a:extLst>
                    <a:ext uri="{9D8B030D-6E8A-4147-A177-3AD203B41FA5}">
                      <a16:colId xmlns:a16="http://schemas.microsoft.com/office/drawing/2014/main" val="20001"/>
                    </a:ext>
                  </a:extLst>
                </a:gridCol>
              </a:tblGrid>
              <a:tr h="299725">
                <a:tc>
                  <a:txBody>
                    <a:bodyPr/>
                    <a:lstStyle/>
                    <a:p>
                      <a:pPr marL="0" marR="0" lvl="0" indent="0" algn="ctr" rtl="0">
                        <a:spcBef>
                          <a:spcPts val="0"/>
                        </a:spcBef>
                        <a:spcAft>
                          <a:spcPts val="0"/>
                        </a:spcAft>
                        <a:buNone/>
                      </a:pPr>
                      <a:r>
                        <a:rPr lang="es-ES" sz="1800" u="none" strike="noStrike" cap="none"/>
                        <a:t>Obstáculo</a:t>
                      </a:r>
                      <a:endParaRPr sz="1800" b="1" i="0" u="none" strike="noStrike" cap="none">
                        <a:solidFill>
                          <a:srgbClr val="FFFFFF"/>
                        </a:solidFill>
                        <a:latin typeface="Arial"/>
                        <a:ea typeface="Arial"/>
                        <a:cs typeface="Arial"/>
                        <a:sym typeface="Arial"/>
                      </a:endParaRPr>
                    </a:p>
                  </a:txBody>
                  <a:tcPr marL="5450" marR="5450" marT="5450" marB="0" anchor="ctr">
                    <a:solidFill>
                      <a:schemeClr val="accent2"/>
                    </a:solidFill>
                  </a:tcPr>
                </a:tc>
                <a:tc>
                  <a:txBody>
                    <a:bodyPr/>
                    <a:lstStyle/>
                    <a:p>
                      <a:pPr marL="0" marR="0" lvl="0" indent="0" algn="ctr" rtl="0">
                        <a:spcBef>
                          <a:spcPts val="0"/>
                        </a:spcBef>
                        <a:spcAft>
                          <a:spcPts val="0"/>
                        </a:spcAft>
                        <a:buNone/>
                      </a:pPr>
                      <a:r>
                        <a:rPr lang="es-ES" sz="1800" u="none" strike="noStrike" cap="none"/>
                        <a:t>Descripción</a:t>
                      </a:r>
                      <a:endParaRPr sz="1800" b="1" i="0" u="none" strike="noStrike" cap="none">
                        <a:solidFill>
                          <a:srgbClr val="FFFFFF"/>
                        </a:solidFill>
                        <a:latin typeface="Arial"/>
                        <a:ea typeface="Arial"/>
                        <a:cs typeface="Arial"/>
                        <a:sym typeface="Arial"/>
                      </a:endParaRPr>
                    </a:p>
                  </a:txBody>
                  <a:tcPr marL="5450" marR="5450" marT="5450" marB="0" anchor="ctr">
                    <a:solidFill>
                      <a:schemeClr val="accent2"/>
                    </a:solidFill>
                  </a:tcPr>
                </a:tc>
                <a:extLst>
                  <a:ext uri="{0D108BD9-81ED-4DB2-BD59-A6C34878D82A}">
                    <a16:rowId xmlns:a16="http://schemas.microsoft.com/office/drawing/2014/main" val="10000"/>
                  </a:ext>
                </a:extLst>
              </a:tr>
              <a:tr h="784225">
                <a:tc>
                  <a:txBody>
                    <a:bodyPr/>
                    <a:lstStyle/>
                    <a:p>
                      <a:pPr marL="0" marR="0" lvl="0" indent="0" algn="l" rtl="0">
                        <a:spcBef>
                          <a:spcPts val="0"/>
                        </a:spcBef>
                        <a:spcAft>
                          <a:spcPts val="0"/>
                        </a:spcAft>
                        <a:buNone/>
                      </a:pPr>
                      <a:r>
                        <a:rPr lang="es-ES" sz="1600" u="none" strike="noStrike" cap="none"/>
                        <a:t>Reducción del alcance para cumplir plazos</a:t>
                      </a:r>
                      <a:endParaRPr sz="1600" b="1" i="0" u="none" strike="noStrike" cap="none">
                        <a:solidFill>
                          <a:srgbClr val="000000"/>
                        </a:solidFill>
                        <a:latin typeface="Arial"/>
                        <a:ea typeface="Arial"/>
                        <a:cs typeface="Arial"/>
                        <a:sym typeface="Arial"/>
                      </a:endParaRPr>
                    </a:p>
                  </a:txBody>
                  <a:tcPr marL="5450" marR="5450" marT="5450" marB="0" anchor="ctr"/>
                </a:tc>
                <a:tc>
                  <a:txBody>
                    <a:bodyPr/>
                    <a:lstStyle/>
                    <a:p>
                      <a:pPr marL="0" marR="0" lvl="0" indent="0" algn="l" rtl="0">
                        <a:spcBef>
                          <a:spcPts val="0"/>
                        </a:spcBef>
                        <a:spcAft>
                          <a:spcPts val="0"/>
                        </a:spcAft>
                        <a:buNone/>
                      </a:pPr>
                      <a:r>
                        <a:rPr lang="es-ES" sz="1600" u="none" strike="noStrike" cap="none"/>
                        <a:t>No fue posible implementar LSCh completa; el MVP se acotó a una sola palabra.</a:t>
                      </a:r>
                      <a:endParaRPr sz="1600" b="0" i="0" u="none" strike="noStrike" cap="none">
                        <a:solidFill>
                          <a:srgbClr val="000000"/>
                        </a:solidFill>
                        <a:latin typeface="Arial"/>
                        <a:ea typeface="Arial"/>
                        <a:cs typeface="Arial"/>
                        <a:sym typeface="Arial"/>
                      </a:endParaRPr>
                    </a:p>
                  </a:txBody>
                  <a:tcPr marL="5450" marR="5450" marT="5450" marB="0" anchor="ctr"/>
                </a:tc>
                <a:extLst>
                  <a:ext uri="{0D108BD9-81ED-4DB2-BD59-A6C34878D82A}">
                    <a16:rowId xmlns:a16="http://schemas.microsoft.com/office/drawing/2014/main" val="10001"/>
                  </a:ext>
                </a:extLst>
              </a:tr>
              <a:tr h="522600">
                <a:tc>
                  <a:txBody>
                    <a:bodyPr/>
                    <a:lstStyle/>
                    <a:p>
                      <a:pPr marL="0" marR="0" lvl="0" indent="0" algn="l" rtl="0">
                        <a:spcBef>
                          <a:spcPts val="0"/>
                        </a:spcBef>
                        <a:spcAft>
                          <a:spcPts val="0"/>
                        </a:spcAft>
                        <a:buNone/>
                      </a:pPr>
                      <a:r>
                        <a:rPr lang="es-ES" sz="1600" u="none" strike="noStrike" cap="none"/>
                        <a:t>Dificultad para definir el MVP final</a:t>
                      </a:r>
                      <a:endParaRPr sz="1600" b="1" i="0" u="none" strike="noStrike" cap="none">
                        <a:solidFill>
                          <a:srgbClr val="000000"/>
                        </a:solidFill>
                        <a:latin typeface="Arial"/>
                        <a:ea typeface="Arial"/>
                        <a:cs typeface="Arial"/>
                        <a:sym typeface="Arial"/>
                      </a:endParaRPr>
                    </a:p>
                  </a:txBody>
                  <a:tcPr marL="5450" marR="5450" marT="5450" marB="0" anchor="ctr"/>
                </a:tc>
                <a:tc>
                  <a:txBody>
                    <a:bodyPr/>
                    <a:lstStyle/>
                    <a:p>
                      <a:pPr marL="0" marR="0" lvl="0" indent="0" algn="l" rtl="0">
                        <a:spcBef>
                          <a:spcPts val="0"/>
                        </a:spcBef>
                        <a:spcAft>
                          <a:spcPts val="0"/>
                        </a:spcAft>
                        <a:buNone/>
                      </a:pPr>
                      <a:r>
                        <a:rPr lang="es-ES" sz="1600" u="none" strike="noStrike" cap="none"/>
                        <a:t>Se debió replantear el flujo y las funcionalidades para ajustarse a tiempo y recursos.</a:t>
                      </a:r>
                      <a:endParaRPr sz="1600" b="0" i="0" u="none" strike="noStrike" cap="none">
                        <a:solidFill>
                          <a:srgbClr val="000000"/>
                        </a:solidFill>
                        <a:latin typeface="Arial"/>
                        <a:ea typeface="Arial"/>
                        <a:cs typeface="Arial"/>
                        <a:sym typeface="Arial"/>
                      </a:endParaRPr>
                    </a:p>
                  </a:txBody>
                  <a:tcPr marL="5450" marR="5450" marT="5450" marB="0" anchor="ctr"/>
                </a:tc>
                <a:extLst>
                  <a:ext uri="{0D108BD9-81ED-4DB2-BD59-A6C34878D82A}">
                    <a16:rowId xmlns:a16="http://schemas.microsoft.com/office/drawing/2014/main" val="10002"/>
                  </a:ext>
                </a:extLst>
              </a:tr>
              <a:tr h="522600">
                <a:tc>
                  <a:txBody>
                    <a:bodyPr/>
                    <a:lstStyle/>
                    <a:p>
                      <a:pPr marL="0" marR="0" lvl="0" indent="0" algn="l" rtl="0">
                        <a:spcBef>
                          <a:spcPts val="0"/>
                        </a:spcBef>
                        <a:spcAft>
                          <a:spcPts val="0"/>
                        </a:spcAft>
                        <a:buNone/>
                      </a:pPr>
                      <a:r>
                        <a:rPr lang="es-ES" sz="1600" u="none" strike="noStrike" cap="none"/>
                        <a:t>Dependencias entre roles</a:t>
                      </a:r>
                      <a:endParaRPr sz="1600" b="1" i="0" u="none" strike="noStrike" cap="none">
                        <a:solidFill>
                          <a:srgbClr val="000000"/>
                        </a:solidFill>
                        <a:latin typeface="Arial"/>
                        <a:ea typeface="Arial"/>
                        <a:cs typeface="Arial"/>
                        <a:sym typeface="Arial"/>
                      </a:endParaRPr>
                    </a:p>
                  </a:txBody>
                  <a:tcPr marL="5450" marR="5450" marT="5450" marB="0" anchor="ctr"/>
                </a:tc>
                <a:tc>
                  <a:txBody>
                    <a:bodyPr/>
                    <a:lstStyle/>
                    <a:p>
                      <a:pPr marL="0" marR="0" lvl="0" indent="0" algn="l" rtl="0">
                        <a:spcBef>
                          <a:spcPts val="0"/>
                        </a:spcBef>
                        <a:spcAft>
                          <a:spcPts val="0"/>
                        </a:spcAft>
                        <a:buNone/>
                      </a:pPr>
                      <a:r>
                        <a:rPr lang="es-ES" sz="1600" u="none" strike="noStrike" cap="none"/>
                        <a:t>Algunas tareas no podían avanzar sin el trabajo previo de otro integrante.</a:t>
                      </a:r>
                      <a:endParaRPr sz="1600" b="0" i="0" u="none" strike="noStrike" cap="none">
                        <a:solidFill>
                          <a:srgbClr val="000000"/>
                        </a:solidFill>
                        <a:latin typeface="Arial"/>
                        <a:ea typeface="Arial"/>
                        <a:cs typeface="Arial"/>
                        <a:sym typeface="Arial"/>
                      </a:endParaRPr>
                    </a:p>
                  </a:txBody>
                  <a:tcPr marL="5450" marR="5450" marT="5450" marB="0" anchor="ctr"/>
                </a:tc>
                <a:extLst>
                  <a:ext uri="{0D108BD9-81ED-4DB2-BD59-A6C34878D82A}">
                    <a16:rowId xmlns:a16="http://schemas.microsoft.com/office/drawing/2014/main" val="10003"/>
                  </a:ext>
                </a:extLst>
              </a:tr>
              <a:tr h="784225">
                <a:tc>
                  <a:txBody>
                    <a:bodyPr/>
                    <a:lstStyle/>
                    <a:p>
                      <a:pPr marL="0" marR="0" lvl="0" indent="0" algn="l" rtl="0">
                        <a:spcBef>
                          <a:spcPts val="0"/>
                        </a:spcBef>
                        <a:spcAft>
                          <a:spcPts val="0"/>
                        </a:spcAft>
                        <a:buNone/>
                      </a:pPr>
                      <a:r>
                        <a:rPr lang="es-ES" sz="1600" u="none" strike="noStrike" cap="none"/>
                        <a:t>Creación y estructuración de animaciones</a:t>
                      </a:r>
                      <a:endParaRPr sz="1600" b="1" i="0" u="none" strike="noStrike" cap="none">
                        <a:solidFill>
                          <a:srgbClr val="000000"/>
                        </a:solidFill>
                        <a:latin typeface="Arial"/>
                        <a:ea typeface="Arial"/>
                        <a:cs typeface="Arial"/>
                        <a:sym typeface="Arial"/>
                      </a:endParaRPr>
                    </a:p>
                  </a:txBody>
                  <a:tcPr marL="5450" marR="5450" marT="5450" marB="0" anchor="ctr"/>
                </a:tc>
                <a:tc>
                  <a:txBody>
                    <a:bodyPr/>
                    <a:lstStyle/>
                    <a:p>
                      <a:pPr marL="0" marR="0" lvl="0" indent="0" algn="l" rtl="0">
                        <a:spcBef>
                          <a:spcPts val="0"/>
                        </a:spcBef>
                        <a:spcAft>
                          <a:spcPts val="0"/>
                        </a:spcAft>
                        <a:buNone/>
                      </a:pPr>
                      <a:r>
                        <a:rPr lang="es-ES" sz="1600" u="none" strike="noStrike" cap="none"/>
                        <a:t>Las grabaciones y preparación de señas tomaron más tiempo del planificado.</a:t>
                      </a:r>
                      <a:endParaRPr sz="1600" b="0" i="0" u="none" strike="noStrike" cap="none">
                        <a:solidFill>
                          <a:srgbClr val="000000"/>
                        </a:solidFill>
                        <a:latin typeface="Arial"/>
                        <a:ea typeface="Arial"/>
                        <a:cs typeface="Arial"/>
                        <a:sym typeface="Arial"/>
                      </a:endParaRPr>
                    </a:p>
                  </a:txBody>
                  <a:tcPr marL="5450" marR="5450" marT="5450" marB="0" anchor="ctr"/>
                </a:tc>
                <a:extLst>
                  <a:ext uri="{0D108BD9-81ED-4DB2-BD59-A6C34878D82A}">
                    <a16:rowId xmlns:a16="http://schemas.microsoft.com/office/drawing/2014/main" val="10004"/>
                  </a:ext>
                </a:extLst>
              </a:tr>
              <a:tr h="522600">
                <a:tc>
                  <a:txBody>
                    <a:bodyPr/>
                    <a:lstStyle/>
                    <a:p>
                      <a:pPr marL="0" marR="0" lvl="0" indent="0" algn="l" rtl="0">
                        <a:spcBef>
                          <a:spcPts val="0"/>
                        </a:spcBef>
                        <a:spcAft>
                          <a:spcPts val="0"/>
                        </a:spcAft>
                        <a:buNone/>
                      </a:pPr>
                      <a:r>
                        <a:rPr lang="es-ES" sz="1600" u="none" strike="noStrike" cap="none"/>
                        <a:t>Re-trabajo en documentación</a:t>
                      </a:r>
                      <a:endParaRPr sz="1600" b="1" i="0" u="none" strike="noStrike" cap="none">
                        <a:solidFill>
                          <a:srgbClr val="000000"/>
                        </a:solidFill>
                        <a:latin typeface="Arial"/>
                        <a:ea typeface="Arial"/>
                        <a:cs typeface="Arial"/>
                        <a:sym typeface="Arial"/>
                      </a:endParaRPr>
                    </a:p>
                  </a:txBody>
                  <a:tcPr marL="5450" marR="5450" marT="5450" marB="0" anchor="ctr"/>
                </a:tc>
                <a:tc>
                  <a:txBody>
                    <a:bodyPr/>
                    <a:lstStyle/>
                    <a:p>
                      <a:pPr marL="0" marR="0" lvl="0" indent="0" algn="l" rtl="0">
                        <a:spcBef>
                          <a:spcPts val="0"/>
                        </a:spcBef>
                        <a:spcAft>
                          <a:spcPts val="0"/>
                        </a:spcAft>
                        <a:buNone/>
                      </a:pPr>
                      <a:r>
                        <a:rPr lang="es-ES" sz="1600" u="none" strike="noStrike" cap="none"/>
                        <a:t>ERS, DAS y trazabilidad debieron corregirse varias veces para reflejar el producto real.</a:t>
                      </a:r>
                      <a:endParaRPr sz="1600" b="0" i="0" u="none" strike="noStrike" cap="none">
                        <a:solidFill>
                          <a:srgbClr val="000000"/>
                        </a:solidFill>
                        <a:latin typeface="Arial"/>
                        <a:ea typeface="Arial"/>
                        <a:cs typeface="Arial"/>
                        <a:sym typeface="Arial"/>
                      </a:endParaRPr>
                    </a:p>
                  </a:txBody>
                  <a:tcPr marL="5450" marR="5450" marT="5450" marB="0" anchor="ctr"/>
                </a:tc>
                <a:extLst>
                  <a:ext uri="{0D108BD9-81ED-4DB2-BD59-A6C34878D82A}">
                    <a16:rowId xmlns:a16="http://schemas.microsoft.com/office/drawing/2014/main" val="10005"/>
                  </a:ext>
                </a:extLst>
              </a:tr>
              <a:tr h="522600">
                <a:tc>
                  <a:txBody>
                    <a:bodyPr/>
                    <a:lstStyle/>
                    <a:p>
                      <a:pPr marL="0" marR="0" lvl="0" indent="0" algn="l" rtl="0">
                        <a:spcBef>
                          <a:spcPts val="0"/>
                        </a:spcBef>
                        <a:spcAft>
                          <a:spcPts val="0"/>
                        </a:spcAft>
                        <a:buNone/>
                      </a:pPr>
                      <a:r>
                        <a:rPr lang="es-ES" sz="1600" u="none" strike="noStrike" cap="none"/>
                        <a:t>Integración del sistema</a:t>
                      </a:r>
                      <a:endParaRPr sz="1600" b="1" i="0" u="none" strike="noStrike" cap="none">
                        <a:solidFill>
                          <a:srgbClr val="000000"/>
                        </a:solidFill>
                        <a:latin typeface="Arial"/>
                        <a:ea typeface="Arial"/>
                        <a:cs typeface="Arial"/>
                        <a:sym typeface="Arial"/>
                      </a:endParaRPr>
                    </a:p>
                  </a:txBody>
                  <a:tcPr marL="5450" marR="5450" marT="5450" marB="0" anchor="ctr"/>
                </a:tc>
                <a:tc>
                  <a:txBody>
                    <a:bodyPr/>
                    <a:lstStyle/>
                    <a:p>
                      <a:pPr marL="0" marR="0" lvl="0" indent="0" algn="l" rtl="0">
                        <a:spcBef>
                          <a:spcPts val="0"/>
                        </a:spcBef>
                        <a:spcAft>
                          <a:spcPts val="0"/>
                        </a:spcAft>
                        <a:buNone/>
                      </a:pPr>
                      <a:r>
                        <a:rPr lang="es-ES" sz="1600" u="none" strike="noStrike" cap="none"/>
                        <a:t>Unir las partes (voz, texto, glosa, animación, avatar) generó retrasos y ajustes.</a:t>
                      </a:r>
                      <a:endParaRPr sz="1600" b="0" i="0" u="none" strike="noStrike" cap="none">
                        <a:solidFill>
                          <a:srgbClr val="000000"/>
                        </a:solidFill>
                        <a:latin typeface="Arial"/>
                        <a:ea typeface="Arial"/>
                        <a:cs typeface="Arial"/>
                        <a:sym typeface="Arial"/>
                      </a:endParaRPr>
                    </a:p>
                  </a:txBody>
                  <a:tcPr marL="5450" marR="5450" marT="5450" marB="0" anchor="ctr"/>
                </a:tc>
                <a:extLst>
                  <a:ext uri="{0D108BD9-81ED-4DB2-BD59-A6C34878D82A}">
                    <a16:rowId xmlns:a16="http://schemas.microsoft.com/office/drawing/2014/main" val="10006"/>
                  </a:ext>
                </a:extLst>
              </a:tr>
            </a:tbl>
          </a:graphicData>
        </a:graphic>
      </p:graphicFrame>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15"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19" name="Google Shape;219;p15"/>
          <p:cNvSpPr txBox="1"/>
          <p:nvPr/>
        </p:nvSpPr>
        <p:spPr>
          <a:xfrm>
            <a:off x="0" y="3044279"/>
            <a:ext cx="12191999"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4400">
                <a:solidFill>
                  <a:schemeClr val="dk1"/>
                </a:solidFill>
                <a:latin typeface="Calibri"/>
                <a:ea typeface="Calibri"/>
                <a:cs typeface="Calibri"/>
                <a:sym typeface="Calibri"/>
              </a:rPr>
              <a:t>PREGUNTAS DE LA COMISIÓN</a:t>
            </a:r>
            <a:endParaRPr/>
          </a:p>
        </p:txBody>
      </p:sp>
    </p:spTree>
  </p:cSld>
  <p:clrMapOvr>
    <a:masterClrMapping/>
  </p:clrMapOvr>
  <p:transition spd="slow">
    <p:wipe/>
  </p:transition>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1180</Words>
  <Application>Microsoft Office PowerPoint</Application>
  <PresentationFormat>Panorámica</PresentationFormat>
  <Paragraphs>125</Paragraphs>
  <Slides>15</Slides>
  <Notes>15</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15</vt:i4>
      </vt:variant>
    </vt:vector>
  </HeadingPairs>
  <TitlesOfParts>
    <vt:vector size="18" baseType="lpstr">
      <vt:lpstr>Arial</vt:lpstr>
      <vt:lpstr>Calibri</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Gerardo Galan Cruz</dc:creator>
  <cp:lastModifiedBy>EYLEEN DENISE COLLADO PINO</cp:lastModifiedBy>
  <cp:revision>1</cp:revision>
  <dcterms:created xsi:type="dcterms:W3CDTF">2023-10-28T21:12:11Z</dcterms:created>
  <dcterms:modified xsi:type="dcterms:W3CDTF">2025-12-04T02:33:50Z</dcterms:modified>
</cp:coreProperties>
</file>